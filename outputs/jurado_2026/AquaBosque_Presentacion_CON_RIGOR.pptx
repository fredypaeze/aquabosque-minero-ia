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73" r:id="rId5"/>
    <p:sldId id="276" r:id="rId6"/>
    <p:sldId id="256" r:id="rId7"/>
    <p:sldId id="257" r:id="rId8"/>
    <p:sldId id="258" r:id="rId9"/>
    <p:sldId id="259" r:id="rId10"/>
    <p:sldId id="260" r:id="rId11"/>
    <p:sldId id="261" r:id="rId12"/>
    <p:sldId id="262" r:id="rId13"/>
    <p:sldId id="277" r:id="rId30"/>
    <p:sldId id="263" r:id="rId14"/>
    <p:sldId id="264" r:id="rId15"/>
    <p:sldId id="265" r:id="rId16"/>
    <p:sldId id="266" r:id="rId17"/>
    <p:sldId id="267" r:id="rId18"/>
    <p:sldId id="268" r:id="rId19"/>
    <p:sldId id="269" r:id="rId20"/>
    <p:sldId id="270" r:id="rId21"/>
    <p:sldId id="271"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A5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42C61-9296-EC83-FF57-670E1DAA971C}" v="64" dt="2026-07-22T23:21:35.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snapToObjects="1">
      <p:cViewPr>
        <p:scale>
          <a:sx n="102" d="100"/>
          <a:sy n="102" d="100"/>
        </p:scale>
        <p:origin x="69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5/10/relationships/revisionInfo" Target="revisionInfo.xml"/><Relationship Id="rId3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390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B8C0-D8A4-BFAD-EB2C-B0DD23F40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93443F-E627-E3F2-D75C-4A4CA3AF9F2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2DA612-DCAF-5015-BB25-98AD62B1A41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DB58BDF-68A6-49C1-67DF-12FAF63A409A}"/>
              </a:ext>
            </a:extLst>
          </p:cNvPr>
          <p:cNvSpPr>
            <a:spLocks noGrp="1"/>
          </p:cNvSpPr>
          <p:nvPr>
            <p:ph type="sldNum" sz="quarter" idx="5"/>
          </p:nvPr>
        </p:nvSpPr>
        <p:spPr/>
      </p:sp>
    </p:spTree>
    <p:extLst>
      <p:ext uri="{BB962C8B-B14F-4D97-AF65-F5344CB8AC3E}">
        <p14:creationId xmlns:p14="http://schemas.microsoft.com/office/powerpoint/2010/main" val="1760521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Bienvenidos. Hoy presentamos AquaBosque Minero IA. En pocas palabras, es una herramienta inteligente que nos dice qué municipios de Colombia necesitan atención urgente por riesgos ambientales. Lo hace cruzando información de minería, deforestación y calidad del agua en una sola plataforma, usando únicamente datos oficiales.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hoy no es que nos falte información. Colombia tiene muchísimos datos ambientales, pero están dispersos. Revisar por un lado la minería, por otro los bosques y por otro el agua, hace muy difícil saber dónde actuar primero. No venimos a proponer otro tablero aislado más, sino una lectura integrada del territorio para que el Ministerio pueda tomar decisiones rápidas.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Nuestra solución ya es un producto funcional, no un concepto. Tomamos esos datos dispersos, los unimos a nivel municipal y una Inteligencia Artificial les asigna un nivel de riesgo. Lo más valioso de esta herramienta es que hace que la priorización de los territorios sea operativa, transparente y muy fácil de entender para cualquier analista o directivo.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que esto tenga validez institucional, la regla de oro fue usar solo fuentes oficiales y verificables. Integramos bases de la Agencia Nacional de Minería, el IDEAM y registros de áreas protegidas. Aquí no hay estimaciones sin fundamento ni datos inventados; todo es auditable y se puede rastrear hasta su origen.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mezclamos peras con manzanas? Estandarizamos todo al nivel de los 1.122 municipios del país. Cruzamos los datos de minería y agua usando las coordenadas de cada lugar. Si en algún municipio no hay datos de calidad de agua, el sistema es honesto y lo marca como ausencia de dato, no inventa problemas donde no hay evidencia.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motor detrás de esto clasifica el riesgo en cuatro niveles: Bajo, Medio, Alto y Crítico. Pero la verdadera magia de este modelo no es solo decirnos el nivel de riesgo, sino explicarnos el por qué. El sistema nos muestra exactamente qué factores —si fue el fuego, la minería o la deforestación— pesaron más para encender la alerta en un municipio específico.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Veamos un caso real: Barrancabermeja. El sistema lo marca en riesgo 'Crítico'. Al mirar el detalle, vemos que tiene actividad minera, afectación hídrica y alta sensibilidad ambiental al mismo tiempo. La IA no reemplaza al experto ni sanciona automáticamente; lo que hace es decirle a la autoridad: 'Revisen aquí primero, esta es la evidencia combinada'.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nos quedamos solo con datos históricos. Le conectamos una señal de satélite de la NASA que detecta focos de calor casi en tiempo real. Si el sistema dice que un municipio es de alto riesgo, y hoy mismo el satélite detecta fuego allí, cruzamos esa información al instante. Es pasar del análisis estático a la respuesta en tiempo real.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También tenemos la capacidad de hacer un zoom satelital profundo usando imágenes procesadas en la infraestructura del Ministerio. Esto nos permite ver el antes y el después de una zona y calcular exactamente cuántas hectáreas de bosque se acaban de perder. Todo el procesamiento de las imágenes se hace en casa, garantizando la soberanía de nuestros datos.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facilitar aún más las cosas, integramos un asistente virtual. Usted puede preguntarle en lenguaje natural, por ejemplo: '¿Por qué La Macarena está priorizada?'. El asistente lee los datos del sistema y le explica la situación. Está configurado para no inventar nada; solo responde basado en la evidencia que ya tenemos recolectada.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 esto vive en una aplicación real y fácil de usar. Tenemos un mapa nacional de calor, un ranking con el 'Top 15' de municipios críticos y fichas detalladas por territorio. La navegación está diseñada para que en menos de dos minutos usted encuentre la información que necesita para justificar una acción.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 esto vive en una aplicación real y fácil de usar. Tenemos un mapa nacional de calor, un ranking con el 'Top 15' de municipios críticos y fichas detalladas por territorio. La navegación está diseñada para que en menos de dos minutos usted encuentre la información que necesita para justificar una acción.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Sabemos que los datos deben fluir. Por eso, cualquier consulta o ranking se puede descargar directamente en un archivo de Excel o CSV con un solo clic. El objetivo es que los equipos técnicos puedan llevarse esta información y cruzarla rápidamente con sus propios reportes internos.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versión ya fue auditada técnicamente y funciona. Nuestro siguiente paso lógico es automatizar que los datos se actualicen solos cada cierto tiempo y generar un sistema de alertas directas. No prometemos una infraestructura gigantesca desde el día uno, sino un crecimiento comprobable y útil.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versión ya fue auditada técnicamente y funciona. Nuestro siguiente paso lógico es automatizar que los datos se actualicen solos cada cierto tiempo y generar un sistema de alertas directas. No prometemos una infraestructura gigantesca desde el día uno, sino un crecimiento comprobable y útil.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conclusión, AquaBosque Minero IA reduce drásticamente las horas de revisión manual. Nos permite focalizar los recursos del Estado donde más se necesitan, con evidencia clara y unificada. Es una herramienta escalable que ya está lista para transformar datos dispersos en decisiones estratégicas. Muchas gracias.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conclusión, AquaBosque Minero IA reduce drásticamente las horas de revisión manual. Nos permite focalizar los recursos del Estado donde más se necesitan, con evidencia clara y unificada. Es una herramienta escalable que ya está lista para transformar datos dispersos en decisiones estratégicas. Muchas gracias.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Aquí está lo que nos pone en otra liga. La mayoría de soluciones muestra una 'confianza' que es solo la probabilidad del modelo. Nosotros vamos más allá con conformal prediction: le damos al nivel de cada municipio una garantía estadística del 90%, verificada empíricamente en 91.4%. Y con detección de anomalías, de forma independiente y sin usar etiquetas, confirmamos 43 municipios prioritarios y descubrimos 14 atípicos que la fórmula no destaca. Es el tipo de rigor que se usa en medicina y finanzas, y que rara vez se ve en el sector público colombiano.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Google Shape;84;p13" descr="image.png">
            <a:extLst>
              <a:ext uri="{FF2B5EF4-FFF2-40B4-BE49-F238E27FC236}">
                <a16:creationId xmlns:a16="http://schemas.microsoft.com/office/drawing/2014/main" id="{99F57DA7-4731-ED79-2965-2FE0C1E32873}"/>
              </a:ext>
            </a:extLst>
          </p:cNvPr>
          <p:cNvPicPr preferRelativeResize="0"/>
          <p:nvPr/>
        </p:nvPicPr>
        <p:blipFill rotWithShape="1">
          <a:blip r:embed="rId3">
            <a:alphaModFix/>
          </a:blip>
          <a:srcRect/>
          <a:stretch/>
        </p:blipFill>
        <p:spPr>
          <a:xfrm>
            <a:off x="571500" y="1807726"/>
            <a:ext cx="6286500" cy="2278260"/>
          </a:xfrm>
          <a:prstGeom prst="rect">
            <a:avLst/>
          </a:prstGeom>
          <a:noFill/>
          <a:ln>
            <a:noFill/>
          </a:ln>
        </p:spPr>
      </p:pic>
      <p:pic>
        <p:nvPicPr>
          <p:cNvPr id="35" name="Google Shape;85;p13" descr="image.png">
            <a:extLst>
              <a:ext uri="{FF2B5EF4-FFF2-40B4-BE49-F238E27FC236}">
                <a16:creationId xmlns:a16="http://schemas.microsoft.com/office/drawing/2014/main" id="{2C6A28BD-59AF-D72B-C774-271FF712A785}"/>
              </a:ext>
            </a:extLst>
          </p:cNvPr>
          <p:cNvPicPr preferRelativeResize="0"/>
          <p:nvPr/>
        </p:nvPicPr>
        <p:blipFill rotWithShape="1">
          <a:blip r:embed="rId4">
            <a:alphaModFix/>
          </a:blip>
          <a:srcRect/>
          <a:stretch/>
        </p:blipFill>
        <p:spPr>
          <a:xfrm>
            <a:off x="571500" y="4371737"/>
            <a:ext cx="6286500" cy="1586805"/>
          </a:xfrm>
          <a:prstGeom prst="rect">
            <a:avLst/>
          </a:prstGeom>
          <a:noFill/>
          <a:ln>
            <a:noFill/>
          </a:ln>
        </p:spPr>
      </p:pic>
      <p:pic>
        <p:nvPicPr>
          <p:cNvPr id="36" name="Google Shape;86;p13" descr="image.png">
            <a:extLst>
              <a:ext uri="{FF2B5EF4-FFF2-40B4-BE49-F238E27FC236}">
                <a16:creationId xmlns:a16="http://schemas.microsoft.com/office/drawing/2014/main" id="{5F59F646-1E3B-E297-7761-A3A5FAD52311}"/>
              </a:ext>
            </a:extLst>
          </p:cNvPr>
          <p:cNvPicPr preferRelativeResize="0"/>
          <p:nvPr/>
        </p:nvPicPr>
        <p:blipFill rotWithShape="1">
          <a:blip r:embed="rId5">
            <a:alphaModFix/>
          </a:blip>
          <a:srcRect/>
          <a:stretch/>
        </p:blipFill>
        <p:spPr>
          <a:xfrm>
            <a:off x="571500" y="6115992"/>
            <a:ext cx="11049000" cy="495300"/>
          </a:xfrm>
          <a:prstGeom prst="rect">
            <a:avLst/>
          </a:prstGeom>
          <a:noFill/>
          <a:ln>
            <a:noFill/>
          </a:ln>
        </p:spPr>
      </p:pic>
      <p:sp>
        <p:nvSpPr>
          <p:cNvPr id="37" name="Google Shape;87;p13">
            <a:extLst>
              <a:ext uri="{FF2B5EF4-FFF2-40B4-BE49-F238E27FC236}">
                <a16:creationId xmlns:a16="http://schemas.microsoft.com/office/drawing/2014/main" id="{2FA64306-677C-3F1B-E093-D156D95B99D1}"/>
              </a:ext>
            </a:extLst>
          </p:cNvPr>
          <p:cNvSpPr txBox="1"/>
          <p:nvPr/>
        </p:nvSpPr>
        <p:spPr>
          <a:xfrm>
            <a:off x="914400" y="2045851"/>
            <a:ext cx="594074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Montserrat"/>
                <a:ea typeface="Montserrat"/>
                <a:cs typeface="Montserrat"/>
                <a:sym typeface="Montserrat"/>
              </a:rPr>
              <a:t>El Desafío del Concurso</a:t>
            </a:r>
            <a:endParaRPr/>
          </a:p>
        </p:txBody>
      </p:sp>
      <p:sp>
        <p:nvSpPr>
          <p:cNvPr id="38" name="Google Shape;88;p13">
            <a:extLst>
              <a:ext uri="{FF2B5EF4-FFF2-40B4-BE49-F238E27FC236}">
                <a16:creationId xmlns:a16="http://schemas.microsoft.com/office/drawing/2014/main" id="{457E11D1-40E0-8B03-ED60-E7A22D7523E1}"/>
              </a:ext>
            </a:extLst>
          </p:cNvPr>
          <p:cNvSpPr txBox="1"/>
          <p:nvPr/>
        </p:nvSpPr>
        <p:spPr>
          <a:xfrm>
            <a:off x="914400" y="2464951"/>
            <a:ext cx="5658000" cy="5403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0" i="0" u="none" strike="noStrike" cap="none">
                <a:solidFill>
                  <a:srgbClr val="475569"/>
                </a:solidFill>
                <a:latin typeface="Open Sans"/>
                <a:ea typeface="Open Sans"/>
                <a:cs typeface="Open Sans"/>
                <a:sym typeface="Open Sans"/>
              </a:rPr>
              <a:t>Usar Inteligencia Artificial para monitorear </a:t>
            </a:r>
            <a:r>
              <a:rPr lang="en-US" sz="1350" b="1" i="0" u="none" strike="noStrike" cap="none">
                <a:solidFill>
                  <a:srgbClr val="475569"/>
                </a:solidFill>
                <a:latin typeface="Open Sans"/>
                <a:ea typeface="Open Sans"/>
                <a:cs typeface="Open Sans"/>
                <a:sym typeface="Open Sans"/>
              </a:rPr>
              <a:t>deforestación</a:t>
            </a:r>
            <a:r>
              <a:rPr lang="en-US" sz="1350" b="0" i="0" u="none" strike="noStrike" cap="none">
                <a:solidFill>
                  <a:srgbClr val="475569"/>
                </a:solidFill>
                <a:latin typeface="Open Sans"/>
                <a:ea typeface="Open Sans"/>
                <a:cs typeface="Open Sans"/>
                <a:sym typeface="Open Sans"/>
              </a:rPr>
              <a:t> y </a:t>
            </a:r>
            <a:r>
              <a:rPr lang="en-US" sz="1350" b="1" i="0" u="none" strike="noStrike" cap="none">
                <a:solidFill>
                  <a:srgbClr val="475569"/>
                </a:solidFill>
                <a:latin typeface="Open Sans"/>
                <a:ea typeface="Open Sans"/>
                <a:cs typeface="Open Sans"/>
                <a:sym typeface="Open Sans"/>
              </a:rPr>
              <a:t>contaminación hídrica</a:t>
            </a:r>
            <a:r>
              <a:rPr lang="en-US" sz="1350" b="0" i="0" u="none" strike="noStrike" cap="none">
                <a:solidFill>
                  <a:srgbClr val="475569"/>
                </a:solidFill>
                <a:latin typeface="Open Sans"/>
                <a:ea typeface="Open Sans"/>
                <a:cs typeface="Open Sans"/>
                <a:sym typeface="Open Sans"/>
              </a:rPr>
              <a:t> en tiempo real.</a:t>
            </a:r>
            <a:endParaRPr/>
          </a:p>
        </p:txBody>
      </p:sp>
      <p:sp>
        <p:nvSpPr>
          <p:cNvPr id="39" name="Google Shape;89;p13">
            <a:extLst>
              <a:ext uri="{FF2B5EF4-FFF2-40B4-BE49-F238E27FC236}">
                <a16:creationId xmlns:a16="http://schemas.microsoft.com/office/drawing/2014/main" id="{04CC0D85-C144-E90E-2C8A-9DA21CA5BD1C}"/>
              </a:ext>
            </a:extLst>
          </p:cNvPr>
          <p:cNvSpPr txBox="1"/>
          <p:nvPr/>
        </p:nvSpPr>
        <p:spPr>
          <a:xfrm>
            <a:off x="914400" y="3156407"/>
            <a:ext cx="5658000" cy="5403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350" b="1" i="0" u="none" strike="noStrike" cap="none">
                <a:solidFill>
                  <a:srgbClr val="475569"/>
                </a:solidFill>
                <a:latin typeface="Open Sans"/>
                <a:ea typeface="Open Sans"/>
                <a:cs typeface="Open Sans"/>
                <a:sym typeface="Open Sans"/>
              </a:rPr>
              <a:t>Datos clave:</a:t>
            </a:r>
            <a:r>
              <a:rPr lang="en-US" sz="1350" b="0" i="0" u="none" strike="noStrike" cap="none">
                <a:solidFill>
                  <a:srgbClr val="475569"/>
                </a:solidFill>
                <a:latin typeface="Open Sans"/>
                <a:ea typeface="Open Sans"/>
                <a:cs typeface="Open Sans"/>
                <a:sym typeface="Open Sans"/>
              </a:rPr>
              <a:t> Integración de imágenes satelitales, registros ambientales y datos de calidad del agua.</a:t>
            </a:r>
            <a:endParaRPr/>
          </a:p>
        </p:txBody>
      </p:sp>
      <p:sp>
        <p:nvSpPr>
          <p:cNvPr id="40" name="Google Shape;90;p13">
            <a:extLst>
              <a:ext uri="{FF2B5EF4-FFF2-40B4-BE49-F238E27FC236}">
                <a16:creationId xmlns:a16="http://schemas.microsoft.com/office/drawing/2014/main" id="{776AA558-5929-37CE-E2BC-FC8C13B11E6D}"/>
              </a:ext>
            </a:extLst>
          </p:cNvPr>
          <p:cNvSpPr txBox="1"/>
          <p:nvPr/>
        </p:nvSpPr>
        <p:spPr>
          <a:xfrm>
            <a:off x="914400" y="4609862"/>
            <a:ext cx="594074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5088"/>
                </a:solidFill>
                <a:latin typeface="Montserrat"/>
                <a:ea typeface="Montserrat"/>
                <a:cs typeface="Montserrat"/>
                <a:sym typeface="Montserrat"/>
              </a:rPr>
              <a:t>Nuestro Impacto</a:t>
            </a:r>
            <a:endParaRPr/>
          </a:p>
        </p:txBody>
      </p:sp>
      <p:sp>
        <p:nvSpPr>
          <p:cNvPr id="41" name="Google Shape;91;p13">
            <a:extLst>
              <a:ext uri="{FF2B5EF4-FFF2-40B4-BE49-F238E27FC236}">
                <a16:creationId xmlns:a16="http://schemas.microsoft.com/office/drawing/2014/main" id="{AEF4E831-29AD-5351-DA50-A8E3EFDBAD8B}"/>
              </a:ext>
            </a:extLst>
          </p:cNvPr>
          <p:cNvSpPr txBox="1"/>
          <p:nvPr/>
        </p:nvSpPr>
        <p:spPr>
          <a:xfrm>
            <a:off x="914400" y="5028962"/>
            <a:ext cx="56578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75569"/>
                </a:solidFill>
                <a:latin typeface="Open Sans"/>
                <a:ea typeface="Open Sans"/>
                <a:cs typeface="Open Sans"/>
                <a:sym typeface="Open Sans"/>
              </a:rPr>
              <a:t>Protección directa de ecosistemas estratégicos y de alta biodiversidad en regiones clave del país como la </a:t>
            </a:r>
            <a:r>
              <a:rPr lang="en-US" sz="1350" b="1" i="0" u="none" strike="noStrike" cap="none">
                <a:solidFill>
                  <a:srgbClr val="475569"/>
                </a:solidFill>
                <a:latin typeface="Open Sans"/>
                <a:ea typeface="Open Sans"/>
                <a:cs typeface="Open Sans"/>
                <a:sym typeface="Open Sans"/>
              </a:rPr>
              <a:t>Amazonía</a:t>
            </a:r>
            <a:r>
              <a:rPr lang="en-US" sz="1350" b="0" i="0" u="none" strike="noStrike" cap="none">
                <a:solidFill>
                  <a:srgbClr val="475569"/>
                </a:solidFill>
                <a:latin typeface="Open Sans"/>
                <a:ea typeface="Open Sans"/>
                <a:cs typeface="Open Sans"/>
                <a:sym typeface="Open Sans"/>
              </a:rPr>
              <a:t> y el </a:t>
            </a:r>
            <a:r>
              <a:rPr lang="en-US" sz="1350" b="1" i="0" u="none" strike="noStrike" cap="none">
                <a:solidFill>
                  <a:srgbClr val="475569"/>
                </a:solidFill>
                <a:latin typeface="Open Sans"/>
                <a:ea typeface="Open Sans"/>
                <a:cs typeface="Open Sans"/>
                <a:sym typeface="Open Sans"/>
              </a:rPr>
              <a:t>Pacífico</a:t>
            </a:r>
            <a:r>
              <a:rPr lang="en-US" sz="1350" b="0" i="0" u="none" strike="noStrike" cap="none">
                <a:solidFill>
                  <a:srgbClr val="475569"/>
                </a:solidFill>
                <a:latin typeface="Open Sans"/>
                <a:ea typeface="Open Sans"/>
                <a:cs typeface="Open Sans"/>
                <a:sym typeface="Open Sans"/>
              </a:rPr>
              <a:t>.</a:t>
            </a:r>
            <a:endParaRPr/>
          </a:p>
        </p:txBody>
      </p:sp>
      <p:sp>
        <p:nvSpPr>
          <p:cNvPr id="42" name="Google Shape;92;p13">
            <a:extLst>
              <a:ext uri="{FF2B5EF4-FFF2-40B4-BE49-F238E27FC236}">
                <a16:creationId xmlns:a16="http://schemas.microsoft.com/office/drawing/2014/main" id="{8545A3EE-7DFF-E76B-E44D-FD942A6CAE5E}"/>
              </a:ext>
            </a:extLst>
          </p:cNvPr>
          <p:cNvSpPr txBox="1"/>
          <p:nvPr/>
        </p:nvSpPr>
        <p:spPr>
          <a:xfrm>
            <a:off x="571500" y="386567"/>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05088"/>
                </a:solidFill>
                <a:latin typeface="Montserrat"/>
                <a:ea typeface="Montserrat"/>
                <a:cs typeface="Montserrat"/>
                <a:sym typeface="Montserrat"/>
              </a:rPr>
              <a:t>EL RETO: </a:t>
            </a:r>
            <a:r>
              <a:rPr lang="en-US" sz="3000" b="1" i="0" u="none" strike="noStrike" cap="none" dirty="0" err="1">
                <a:solidFill>
                  <a:srgbClr val="005088"/>
                </a:solidFill>
                <a:latin typeface="Montserrat"/>
                <a:ea typeface="Montserrat"/>
                <a:cs typeface="Montserrat"/>
                <a:sym typeface="Montserrat"/>
              </a:rPr>
              <a:t>Sostenibilidad</a:t>
            </a:r>
            <a:r>
              <a:rPr lang="en-US" sz="3000" b="1" i="0" u="none" strike="noStrike" cap="none" dirty="0">
                <a:solidFill>
                  <a:srgbClr val="005088"/>
                </a:solidFill>
                <a:latin typeface="Montserrat"/>
                <a:ea typeface="Montserrat"/>
                <a:cs typeface="Montserrat"/>
                <a:sym typeface="Montserrat"/>
              </a:rPr>
              <a:t> y Medio </a:t>
            </a:r>
            <a:r>
              <a:rPr lang="en-US" sz="3000" b="1" i="0" u="none" strike="noStrike" cap="none" dirty="0" err="1">
                <a:solidFill>
                  <a:srgbClr val="005088"/>
                </a:solidFill>
                <a:latin typeface="Montserrat"/>
                <a:ea typeface="Montserrat"/>
                <a:cs typeface="Montserrat"/>
                <a:sym typeface="Montserrat"/>
              </a:rPr>
              <a:t>Ambiente</a:t>
            </a:r>
            <a:endParaRPr dirty="0"/>
          </a:p>
        </p:txBody>
      </p:sp>
      <p:sp>
        <p:nvSpPr>
          <p:cNvPr id="43" name="Google Shape;93;p13">
            <a:extLst>
              <a:ext uri="{FF2B5EF4-FFF2-40B4-BE49-F238E27FC236}">
                <a16:creationId xmlns:a16="http://schemas.microsoft.com/office/drawing/2014/main" id="{72FED44A-65EB-91C0-BEBD-9867B2D24ABA}"/>
              </a:ext>
            </a:extLst>
          </p:cNvPr>
          <p:cNvSpPr txBox="1"/>
          <p:nvPr/>
        </p:nvSpPr>
        <p:spPr>
          <a:xfrm>
            <a:off x="571500" y="948542"/>
            <a:ext cx="11049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11CAA0"/>
                </a:solidFill>
                <a:latin typeface="Open Sans SemiBold"/>
                <a:ea typeface="Open Sans SemiBold"/>
                <a:cs typeface="Open Sans SemiBold"/>
                <a:sym typeface="Open Sans SemiBold"/>
              </a:rPr>
              <a:t>Inteligencia</a:t>
            </a:r>
            <a:r>
              <a:rPr lang="en-US" sz="1650" b="0" i="0" u="none" strike="noStrike" cap="none" dirty="0">
                <a:solidFill>
                  <a:srgbClr val="11CAA0"/>
                </a:solidFill>
                <a:latin typeface="Open Sans SemiBold"/>
                <a:ea typeface="Open Sans SemiBold"/>
                <a:cs typeface="Open Sans SemiBold"/>
                <a:sym typeface="Open Sans SemiBold"/>
              </a:rPr>
              <a:t> artificial para </a:t>
            </a:r>
            <a:r>
              <a:rPr lang="en-US" sz="1650" b="0" i="0" u="none" strike="noStrike" cap="none" dirty="0" err="1">
                <a:solidFill>
                  <a:srgbClr val="11CAA0"/>
                </a:solidFill>
                <a:latin typeface="Open Sans SemiBold"/>
                <a:ea typeface="Open Sans SemiBold"/>
                <a:cs typeface="Open Sans SemiBold"/>
                <a:sym typeface="Open Sans SemiBold"/>
              </a:rPr>
              <a:t>proteger</a:t>
            </a:r>
            <a:r>
              <a:rPr lang="en-US" sz="1650" b="0" i="0" u="none" strike="noStrike" cap="none" dirty="0">
                <a:solidFill>
                  <a:srgbClr val="11CAA0"/>
                </a:solidFill>
                <a:latin typeface="Open Sans SemiBold"/>
                <a:ea typeface="Open Sans SemiBold"/>
                <a:cs typeface="Open Sans SemiBold"/>
                <a:sym typeface="Open Sans SemiBold"/>
              </a:rPr>
              <a:t> </a:t>
            </a:r>
            <a:r>
              <a:rPr lang="en-US" sz="1650" b="0" i="0" u="none" strike="noStrike" cap="none" dirty="0" err="1">
                <a:solidFill>
                  <a:srgbClr val="11CAA0"/>
                </a:solidFill>
                <a:latin typeface="Open Sans SemiBold"/>
                <a:ea typeface="Open Sans SemiBold"/>
                <a:cs typeface="Open Sans SemiBold"/>
                <a:sym typeface="Open Sans SemiBold"/>
              </a:rPr>
              <a:t>ecosistemas</a:t>
            </a:r>
            <a:r>
              <a:rPr lang="en-US" sz="1650" b="0" i="0" u="none" strike="noStrike" cap="none" dirty="0">
                <a:solidFill>
                  <a:srgbClr val="11CAA0"/>
                </a:solidFill>
                <a:latin typeface="Open Sans SemiBold"/>
                <a:ea typeface="Open Sans SemiBold"/>
                <a:cs typeface="Open Sans SemiBold"/>
                <a:sym typeface="Open Sans SemiBold"/>
              </a:rPr>
              <a:t> </a:t>
            </a:r>
            <a:r>
              <a:rPr lang="en-US" sz="1650" b="0" i="0" u="none" strike="noStrike" cap="none" dirty="0" err="1">
                <a:solidFill>
                  <a:srgbClr val="11CAA0"/>
                </a:solidFill>
                <a:latin typeface="Open Sans SemiBold"/>
                <a:ea typeface="Open Sans SemiBold"/>
                <a:cs typeface="Open Sans SemiBold"/>
                <a:sym typeface="Open Sans SemiBold"/>
              </a:rPr>
              <a:t>estratégicos</a:t>
            </a:r>
            <a:r>
              <a:rPr lang="en-US" sz="1650" b="0" i="0" u="none" strike="noStrike" cap="none" dirty="0">
                <a:solidFill>
                  <a:srgbClr val="11CAA0"/>
                </a:solidFill>
                <a:latin typeface="Open Sans SemiBold"/>
                <a:ea typeface="Open Sans SemiBold"/>
                <a:cs typeface="Open Sans SemiBold"/>
                <a:sym typeface="Open Sans SemiBold"/>
              </a:rPr>
              <a:t>.</a:t>
            </a:r>
            <a:endParaRPr dirty="0"/>
          </a:p>
        </p:txBody>
      </p:sp>
      <p:pic>
        <p:nvPicPr>
          <p:cNvPr id="44" name="Google Shape;94;p13">
            <a:extLst>
              <a:ext uri="{FF2B5EF4-FFF2-40B4-BE49-F238E27FC236}">
                <a16:creationId xmlns:a16="http://schemas.microsoft.com/office/drawing/2014/main" id="{BD82ACF4-1E2B-AE6D-0CFB-6D4AAE105C0D}"/>
              </a:ext>
            </a:extLst>
          </p:cNvPr>
          <p:cNvPicPr preferRelativeResize="0"/>
          <p:nvPr/>
        </p:nvPicPr>
        <p:blipFill rotWithShape="1">
          <a:blip r:embed="rId6">
            <a:alphaModFix/>
          </a:blip>
          <a:srcRect r="33849"/>
          <a:stretch/>
        </p:blipFill>
        <p:spPr>
          <a:xfrm>
            <a:off x="7506900" y="1807717"/>
            <a:ext cx="4113600" cy="4150800"/>
          </a:xfrm>
          <a:prstGeom prst="roundRect">
            <a:avLst>
              <a:gd name="adj" fmla="val 6252"/>
            </a:avLst>
          </a:prstGeom>
          <a:noFill/>
          <a:ln>
            <a:noFill/>
          </a:ln>
          <a:effectLst>
            <a:outerShdw blurRad="300038" dist="76200" dir="3420000" algn="bl" rotWithShape="0">
              <a:srgbClr val="475569"/>
            </a:outerShdw>
          </a:effectLst>
        </p:spPr>
      </p:pic>
    </p:spTree>
    <p:extLst>
      <p:ext uri="{BB962C8B-B14F-4D97-AF65-F5344CB8AC3E}">
        <p14:creationId xmlns:p14="http://schemas.microsoft.com/office/powerpoint/2010/main" val="481755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98A29-0130-9A38-3967-2BD5D3A3B69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B195F9C-858F-7CF7-8FF1-41F431C5B4E3}"/>
              </a:ext>
            </a:extLst>
          </p:cNvPr>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85ED455-C53B-C44B-F606-30009093A837}"/>
              </a:ext>
            </a:extLst>
          </p:cNvPr>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Google Shape;99;p14" descr="image.png">
            <a:extLst>
              <a:ext uri="{FF2B5EF4-FFF2-40B4-BE49-F238E27FC236}">
                <a16:creationId xmlns:a16="http://schemas.microsoft.com/office/drawing/2014/main" id="{68E3EBAE-B63D-A7F2-8579-7D1B9A546CD1}"/>
              </a:ext>
            </a:extLst>
          </p:cNvPr>
          <p:cNvPicPr preferRelativeResize="0"/>
          <p:nvPr/>
        </p:nvPicPr>
        <p:blipFill rotWithShape="1">
          <a:blip r:embed="rId3">
            <a:alphaModFix/>
          </a:blip>
          <a:srcRect/>
          <a:stretch/>
        </p:blipFill>
        <p:spPr>
          <a:xfrm>
            <a:off x="571500" y="2317687"/>
            <a:ext cx="2547937" cy="2531566"/>
          </a:xfrm>
          <a:prstGeom prst="rect">
            <a:avLst/>
          </a:prstGeom>
          <a:noFill/>
          <a:ln>
            <a:noFill/>
          </a:ln>
        </p:spPr>
      </p:pic>
      <p:pic>
        <p:nvPicPr>
          <p:cNvPr id="8" name="Google Shape;100;p14" descr="image.png">
            <a:extLst>
              <a:ext uri="{FF2B5EF4-FFF2-40B4-BE49-F238E27FC236}">
                <a16:creationId xmlns:a16="http://schemas.microsoft.com/office/drawing/2014/main" id="{6C5D01AB-DAA7-CB5F-1627-5840BE1D0032}"/>
              </a:ext>
            </a:extLst>
          </p:cNvPr>
          <p:cNvPicPr preferRelativeResize="0"/>
          <p:nvPr/>
        </p:nvPicPr>
        <p:blipFill rotWithShape="1">
          <a:blip r:embed="rId4">
            <a:alphaModFix/>
          </a:blip>
          <a:srcRect/>
          <a:stretch/>
        </p:blipFill>
        <p:spPr>
          <a:xfrm>
            <a:off x="3405187" y="2317687"/>
            <a:ext cx="2547937" cy="2531566"/>
          </a:xfrm>
          <a:prstGeom prst="rect">
            <a:avLst/>
          </a:prstGeom>
          <a:noFill/>
          <a:ln>
            <a:noFill/>
          </a:ln>
        </p:spPr>
      </p:pic>
      <p:pic>
        <p:nvPicPr>
          <p:cNvPr id="10" name="Google Shape;101;p14" descr="image.png">
            <a:extLst>
              <a:ext uri="{FF2B5EF4-FFF2-40B4-BE49-F238E27FC236}">
                <a16:creationId xmlns:a16="http://schemas.microsoft.com/office/drawing/2014/main" id="{1824AE0C-41C8-92D1-64F8-78BF1D1626B8}"/>
              </a:ext>
            </a:extLst>
          </p:cNvPr>
          <p:cNvPicPr preferRelativeResize="0"/>
          <p:nvPr/>
        </p:nvPicPr>
        <p:blipFill rotWithShape="1">
          <a:blip r:embed="rId5">
            <a:alphaModFix/>
          </a:blip>
          <a:srcRect/>
          <a:stretch/>
        </p:blipFill>
        <p:spPr>
          <a:xfrm>
            <a:off x="6238875" y="2317687"/>
            <a:ext cx="2547937" cy="2531566"/>
          </a:xfrm>
          <a:prstGeom prst="rect">
            <a:avLst/>
          </a:prstGeom>
          <a:noFill/>
          <a:ln>
            <a:noFill/>
          </a:ln>
        </p:spPr>
      </p:pic>
      <p:pic>
        <p:nvPicPr>
          <p:cNvPr id="12" name="Google Shape;102;p14" descr="image.png">
            <a:extLst>
              <a:ext uri="{FF2B5EF4-FFF2-40B4-BE49-F238E27FC236}">
                <a16:creationId xmlns:a16="http://schemas.microsoft.com/office/drawing/2014/main" id="{5A39D8D0-2E22-10A3-6447-90178480CF8B}"/>
              </a:ext>
            </a:extLst>
          </p:cNvPr>
          <p:cNvPicPr preferRelativeResize="0"/>
          <p:nvPr/>
        </p:nvPicPr>
        <p:blipFill rotWithShape="1">
          <a:blip r:embed="rId4">
            <a:alphaModFix/>
          </a:blip>
          <a:srcRect/>
          <a:stretch/>
        </p:blipFill>
        <p:spPr>
          <a:xfrm>
            <a:off x="9072562" y="2317687"/>
            <a:ext cx="2547937" cy="2531566"/>
          </a:xfrm>
          <a:prstGeom prst="rect">
            <a:avLst/>
          </a:prstGeom>
          <a:noFill/>
          <a:ln>
            <a:noFill/>
          </a:ln>
        </p:spPr>
      </p:pic>
      <p:pic>
        <p:nvPicPr>
          <p:cNvPr id="14" name="Google Shape;103;p14" descr="image.png">
            <a:extLst>
              <a:ext uri="{FF2B5EF4-FFF2-40B4-BE49-F238E27FC236}">
                <a16:creationId xmlns:a16="http://schemas.microsoft.com/office/drawing/2014/main" id="{6DD34758-C974-7C13-98C1-A8262EFC7083}"/>
              </a:ext>
            </a:extLst>
          </p:cNvPr>
          <p:cNvPicPr preferRelativeResize="0"/>
          <p:nvPr/>
        </p:nvPicPr>
        <p:blipFill rotWithShape="1">
          <a:blip r:embed="rId6">
            <a:alphaModFix/>
          </a:blip>
          <a:srcRect/>
          <a:stretch/>
        </p:blipFill>
        <p:spPr>
          <a:xfrm>
            <a:off x="571500" y="5981700"/>
            <a:ext cx="11049000" cy="495300"/>
          </a:xfrm>
          <a:prstGeom prst="rect">
            <a:avLst/>
          </a:prstGeom>
          <a:noFill/>
          <a:ln>
            <a:noFill/>
          </a:ln>
        </p:spPr>
      </p:pic>
      <p:pic>
        <p:nvPicPr>
          <p:cNvPr id="16" name="Google Shape;104;p14" descr="image.png">
            <a:extLst>
              <a:ext uri="{FF2B5EF4-FFF2-40B4-BE49-F238E27FC236}">
                <a16:creationId xmlns:a16="http://schemas.microsoft.com/office/drawing/2014/main" id="{D56DF1EE-DA03-1F28-F8D3-5A5BBB984D34}"/>
              </a:ext>
            </a:extLst>
          </p:cNvPr>
          <p:cNvPicPr preferRelativeResize="0"/>
          <p:nvPr/>
        </p:nvPicPr>
        <p:blipFill rotWithShape="1">
          <a:blip r:embed="rId7">
            <a:alphaModFix/>
          </a:blip>
          <a:srcRect/>
          <a:stretch/>
        </p:blipFill>
        <p:spPr>
          <a:xfrm>
            <a:off x="1464468" y="2708212"/>
            <a:ext cx="762000" cy="762000"/>
          </a:xfrm>
          <a:prstGeom prst="rect">
            <a:avLst/>
          </a:prstGeom>
          <a:noFill/>
          <a:ln>
            <a:noFill/>
          </a:ln>
        </p:spPr>
      </p:pic>
      <p:sp>
        <p:nvSpPr>
          <p:cNvPr id="18" name="Google Shape;105;p14">
            <a:extLst>
              <a:ext uri="{FF2B5EF4-FFF2-40B4-BE49-F238E27FC236}">
                <a16:creationId xmlns:a16="http://schemas.microsoft.com/office/drawing/2014/main" id="{7AECAD28-7659-76FF-4C37-87F2E733CF85}"/>
              </a:ext>
            </a:extLst>
          </p:cNvPr>
          <p:cNvSpPr txBox="1"/>
          <p:nvPr/>
        </p:nvSpPr>
        <p:spPr>
          <a:xfrm>
            <a:off x="770334" y="3708337"/>
            <a:ext cx="21504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a:solidFill>
                  <a:srgbClr val="1E293B"/>
                </a:solidFill>
                <a:latin typeface="Montserrat"/>
                <a:ea typeface="Montserrat"/>
                <a:cs typeface="Montserrat"/>
                <a:sym typeface="Montserrat"/>
              </a:rPr>
              <a:t>Fredy Paez</a:t>
            </a:r>
            <a:endParaRPr/>
          </a:p>
        </p:txBody>
      </p:sp>
      <p:sp>
        <p:nvSpPr>
          <p:cNvPr id="20" name="Google Shape;106;p14">
            <a:extLst>
              <a:ext uri="{FF2B5EF4-FFF2-40B4-BE49-F238E27FC236}">
                <a16:creationId xmlns:a16="http://schemas.microsoft.com/office/drawing/2014/main" id="{B8AD6141-8C1F-E767-9A0E-54D58A47E187}"/>
              </a:ext>
            </a:extLst>
          </p:cNvPr>
          <p:cNvSpPr txBox="1"/>
          <p:nvPr/>
        </p:nvSpPr>
        <p:spPr>
          <a:xfrm>
            <a:off x="771525" y="4032187"/>
            <a:ext cx="2148000" cy="443100"/>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005088"/>
                </a:solidFill>
                <a:latin typeface="Open Sans SemiBold"/>
                <a:ea typeface="Open Sans SemiBold"/>
                <a:cs typeface="Open Sans SemiBold"/>
                <a:sym typeface="Open Sans SemiBold"/>
              </a:rPr>
              <a:t>Liderazgo Técnico y Arquitectura de Datos</a:t>
            </a:r>
            <a:endParaRPr/>
          </a:p>
        </p:txBody>
      </p:sp>
      <p:pic>
        <p:nvPicPr>
          <p:cNvPr id="22" name="Google Shape;107;p14" descr="image.png">
            <a:extLst>
              <a:ext uri="{FF2B5EF4-FFF2-40B4-BE49-F238E27FC236}">
                <a16:creationId xmlns:a16="http://schemas.microsoft.com/office/drawing/2014/main" id="{109AB8DE-02C3-347A-95D2-DA8E0DE69164}"/>
              </a:ext>
            </a:extLst>
          </p:cNvPr>
          <p:cNvPicPr preferRelativeResize="0"/>
          <p:nvPr/>
        </p:nvPicPr>
        <p:blipFill rotWithShape="1">
          <a:blip r:embed="rId8">
            <a:alphaModFix/>
          </a:blip>
          <a:srcRect/>
          <a:stretch/>
        </p:blipFill>
        <p:spPr>
          <a:xfrm>
            <a:off x="4298156" y="2708212"/>
            <a:ext cx="762000" cy="762000"/>
          </a:xfrm>
          <a:prstGeom prst="rect">
            <a:avLst/>
          </a:prstGeom>
          <a:noFill/>
          <a:ln>
            <a:noFill/>
          </a:ln>
        </p:spPr>
      </p:pic>
      <p:sp>
        <p:nvSpPr>
          <p:cNvPr id="24" name="Google Shape;108;p14">
            <a:extLst>
              <a:ext uri="{FF2B5EF4-FFF2-40B4-BE49-F238E27FC236}">
                <a16:creationId xmlns:a16="http://schemas.microsoft.com/office/drawing/2014/main" id="{5BA08B3D-EED1-92A0-071F-9988661021BF}"/>
              </a:ext>
            </a:extLst>
          </p:cNvPr>
          <p:cNvSpPr txBox="1"/>
          <p:nvPr/>
        </p:nvSpPr>
        <p:spPr>
          <a:xfrm>
            <a:off x="3584019" y="3708337"/>
            <a:ext cx="21903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dirty="0">
                <a:solidFill>
                  <a:srgbClr val="1E293B"/>
                </a:solidFill>
                <a:latin typeface="Montserrat"/>
                <a:ea typeface="Montserrat"/>
                <a:cs typeface="Montserrat"/>
                <a:sym typeface="Montserrat"/>
              </a:rPr>
              <a:t>Manuel Vega</a:t>
            </a:r>
            <a:endParaRPr dirty="0"/>
          </a:p>
        </p:txBody>
      </p:sp>
      <p:sp>
        <p:nvSpPr>
          <p:cNvPr id="26" name="Google Shape;109;p14">
            <a:extLst>
              <a:ext uri="{FF2B5EF4-FFF2-40B4-BE49-F238E27FC236}">
                <a16:creationId xmlns:a16="http://schemas.microsoft.com/office/drawing/2014/main" id="{9A888013-16F5-5087-2C99-CDB5A5E05354}"/>
              </a:ext>
            </a:extLst>
          </p:cNvPr>
          <p:cNvSpPr txBox="1"/>
          <p:nvPr/>
        </p:nvSpPr>
        <p:spPr>
          <a:xfrm>
            <a:off x="3605212" y="4032187"/>
            <a:ext cx="2148000" cy="443100"/>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005088"/>
                </a:solidFill>
                <a:latin typeface="Open Sans SemiBold"/>
                <a:ea typeface="Open Sans SemiBold"/>
                <a:cs typeface="Open Sans SemiBold"/>
                <a:sym typeface="Open Sans SemiBold"/>
              </a:rPr>
              <a:t>Modelado Predictivo e Inteligencia Artificial</a:t>
            </a:r>
            <a:endParaRPr/>
          </a:p>
        </p:txBody>
      </p:sp>
      <p:pic>
        <p:nvPicPr>
          <p:cNvPr id="28" name="Google Shape;110;p14" descr="image.png">
            <a:extLst>
              <a:ext uri="{FF2B5EF4-FFF2-40B4-BE49-F238E27FC236}">
                <a16:creationId xmlns:a16="http://schemas.microsoft.com/office/drawing/2014/main" id="{980E12B1-AB1C-ECFB-FA46-43AB9D4E2DA1}"/>
              </a:ext>
            </a:extLst>
          </p:cNvPr>
          <p:cNvPicPr preferRelativeResize="0"/>
          <p:nvPr/>
        </p:nvPicPr>
        <p:blipFill rotWithShape="1">
          <a:blip r:embed="rId9">
            <a:alphaModFix/>
          </a:blip>
          <a:srcRect/>
          <a:stretch/>
        </p:blipFill>
        <p:spPr>
          <a:xfrm>
            <a:off x="7131843" y="2708212"/>
            <a:ext cx="762000" cy="762000"/>
          </a:xfrm>
          <a:prstGeom prst="rect">
            <a:avLst/>
          </a:prstGeom>
          <a:noFill/>
          <a:ln>
            <a:noFill/>
          </a:ln>
        </p:spPr>
      </p:pic>
      <p:sp>
        <p:nvSpPr>
          <p:cNvPr id="30" name="Google Shape;111;p14">
            <a:extLst>
              <a:ext uri="{FF2B5EF4-FFF2-40B4-BE49-F238E27FC236}">
                <a16:creationId xmlns:a16="http://schemas.microsoft.com/office/drawing/2014/main" id="{D5478CFB-296D-56E0-1AC8-1AE9DC47CA0F}"/>
              </a:ext>
            </a:extLst>
          </p:cNvPr>
          <p:cNvSpPr txBox="1"/>
          <p:nvPr/>
        </p:nvSpPr>
        <p:spPr>
          <a:xfrm>
            <a:off x="6417706" y="3708337"/>
            <a:ext cx="21903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a:solidFill>
                  <a:srgbClr val="1E293B"/>
                </a:solidFill>
                <a:latin typeface="Montserrat"/>
                <a:ea typeface="Montserrat"/>
                <a:cs typeface="Montserrat"/>
                <a:sym typeface="Montserrat"/>
              </a:rPr>
              <a:t>Sofia Gutierrez </a:t>
            </a:r>
            <a:endParaRPr/>
          </a:p>
        </p:txBody>
      </p:sp>
      <p:sp>
        <p:nvSpPr>
          <p:cNvPr id="32" name="Google Shape;112;p14">
            <a:extLst>
              <a:ext uri="{FF2B5EF4-FFF2-40B4-BE49-F238E27FC236}">
                <a16:creationId xmlns:a16="http://schemas.microsoft.com/office/drawing/2014/main" id="{F624FBB5-19F0-BF91-16AE-0E80B4E33ABE}"/>
              </a:ext>
            </a:extLst>
          </p:cNvPr>
          <p:cNvSpPr txBox="1"/>
          <p:nvPr/>
        </p:nvSpPr>
        <p:spPr>
          <a:xfrm>
            <a:off x="6438900" y="4032187"/>
            <a:ext cx="2148000" cy="443100"/>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005088"/>
                </a:solidFill>
                <a:latin typeface="Open Sans SemiBold"/>
                <a:ea typeface="Open Sans SemiBold"/>
                <a:cs typeface="Open Sans SemiBold"/>
                <a:sym typeface="Open Sans SemiBold"/>
              </a:rPr>
              <a:t>Ingeniería Geoespacial y Procesamiento Satelital</a:t>
            </a:r>
            <a:endParaRPr/>
          </a:p>
        </p:txBody>
      </p:sp>
      <p:pic>
        <p:nvPicPr>
          <p:cNvPr id="45" name="Google Shape;113;p14" descr="image.png">
            <a:extLst>
              <a:ext uri="{FF2B5EF4-FFF2-40B4-BE49-F238E27FC236}">
                <a16:creationId xmlns:a16="http://schemas.microsoft.com/office/drawing/2014/main" id="{856065A7-4261-BCFD-3E12-FEEC47E613D9}"/>
              </a:ext>
            </a:extLst>
          </p:cNvPr>
          <p:cNvPicPr preferRelativeResize="0"/>
          <p:nvPr/>
        </p:nvPicPr>
        <p:blipFill rotWithShape="1">
          <a:blip r:embed="rId10">
            <a:alphaModFix/>
          </a:blip>
          <a:srcRect/>
          <a:stretch/>
        </p:blipFill>
        <p:spPr>
          <a:xfrm>
            <a:off x="9965531" y="2708212"/>
            <a:ext cx="762000" cy="762000"/>
          </a:xfrm>
          <a:prstGeom prst="rect">
            <a:avLst/>
          </a:prstGeom>
          <a:noFill/>
          <a:ln>
            <a:noFill/>
          </a:ln>
        </p:spPr>
      </p:pic>
      <p:sp>
        <p:nvSpPr>
          <p:cNvPr id="47" name="Google Shape;114;p14">
            <a:extLst>
              <a:ext uri="{FF2B5EF4-FFF2-40B4-BE49-F238E27FC236}">
                <a16:creationId xmlns:a16="http://schemas.microsoft.com/office/drawing/2014/main" id="{8797054F-5786-DB81-2A96-3584B74CD686}"/>
              </a:ext>
            </a:extLst>
          </p:cNvPr>
          <p:cNvSpPr txBox="1"/>
          <p:nvPr/>
        </p:nvSpPr>
        <p:spPr>
          <a:xfrm>
            <a:off x="9241393" y="3708337"/>
            <a:ext cx="22104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a:solidFill>
                  <a:srgbClr val="1E293B"/>
                </a:solidFill>
                <a:latin typeface="Montserrat"/>
                <a:ea typeface="Montserrat"/>
                <a:cs typeface="Montserrat"/>
                <a:sym typeface="Montserrat"/>
              </a:rPr>
              <a:t>Valentina Uribe</a:t>
            </a:r>
            <a:endParaRPr/>
          </a:p>
        </p:txBody>
      </p:sp>
      <p:sp>
        <p:nvSpPr>
          <p:cNvPr id="49" name="Google Shape;115;p14">
            <a:extLst>
              <a:ext uri="{FF2B5EF4-FFF2-40B4-BE49-F238E27FC236}">
                <a16:creationId xmlns:a16="http://schemas.microsoft.com/office/drawing/2014/main" id="{46BC8C1E-1CF9-83D9-6E80-E07BF7EC0D07}"/>
              </a:ext>
            </a:extLst>
          </p:cNvPr>
          <p:cNvSpPr txBox="1"/>
          <p:nvPr/>
        </p:nvSpPr>
        <p:spPr>
          <a:xfrm>
            <a:off x="9272587" y="4032187"/>
            <a:ext cx="2148000" cy="443100"/>
          </a:xfrm>
          <a:prstGeom prst="rect">
            <a:avLst/>
          </a:prstGeom>
          <a:noFill/>
          <a:ln>
            <a:noFill/>
          </a:ln>
        </p:spPr>
        <p:txBody>
          <a:bodyPr spcFirstLastPara="1" wrap="square" lIns="0" tIns="0" rIns="0" bIns="0" anchor="t" anchorCtr="0">
            <a:spAutoFit/>
          </a:bodyPr>
          <a:lstStyle/>
          <a:p>
            <a:pPr marL="0" marR="0" lvl="0" indent="0" algn="ctr" rtl="0">
              <a:lnSpc>
                <a:spcPct val="139916"/>
              </a:lnSpc>
              <a:spcBef>
                <a:spcPts val="0"/>
              </a:spcBef>
              <a:spcAft>
                <a:spcPts val="0"/>
              </a:spcAft>
              <a:buNone/>
            </a:pPr>
            <a:r>
              <a:rPr lang="en-US" sz="1200" b="0" i="0" u="none" strike="noStrike" cap="none">
                <a:solidFill>
                  <a:srgbClr val="005088"/>
                </a:solidFill>
                <a:latin typeface="Open Sans SemiBold"/>
                <a:ea typeface="Open Sans SemiBold"/>
                <a:cs typeface="Open Sans SemiBold"/>
                <a:sym typeface="Open Sans SemiBold"/>
              </a:rPr>
              <a:t>Estrategia Sectorial y Políticas Públicas</a:t>
            </a:r>
            <a:endParaRPr/>
          </a:p>
        </p:txBody>
      </p:sp>
      <p:pic>
        <p:nvPicPr>
          <p:cNvPr id="51" name="Google Shape;116;p14" descr="image.png">
            <a:extLst>
              <a:ext uri="{FF2B5EF4-FFF2-40B4-BE49-F238E27FC236}">
                <a16:creationId xmlns:a16="http://schemas.microsoft.com/office/drawing/2014/main" id="{502F83F8-8DA1-9D63-29E3-03D187B22241}"/>
              </a:ext>
            </a:extLst>
          </p:cNvPr>
          <p:cNvPicPr preferRelativeResize="0"/>
          <p:nvPr/>
        </p:nvPicPr>
        <p:blipFill rotWithShape="1">
          <a:blip r:embed="rId11">
            <a:alphaModFix/>
          </a:blip>
          <a:srcRect/>
          <a:stretch/>
        </p:blipFill>
        <p:spPr>
          <a:xfrm>
            <a:off x="1712118" y="2936812"/>
            <a:ext cx="266700" cy="304800"/>
          </a:xfrm>
          <a:prstGeom prst="rect">
            <a:avLst/>
          </a:prstGeom>
          <a:noFill/>
          <a:ln>
            <a:noFill/>
          </a:ln>
        </p:spPr>
      </p:pic>
      <p:pic>
        <p:nvPicPr>
          <p:cNvPr id="53" name="Google Shape;117;p14" descr="image.png">
            <a:extLst>
              <a:ext uri="{FF2B5EF4-FFF2-40B4-BE49-F238E27FC236}">
                <a16:creationId xmlns:a16="http://schemas.microsoft.com/office/drawing/2014/main" id="{4298FCE6-6562-C61F-E9AA-0E3523BE12CD}"/>
              </a:ext>
            </a:extLst>
          </p:cNvPr>
          <p:cNvPicPr preferRelativeResize="0"/>
          <p:nvPr/>
        </p:nvPicPr>
        <p:blipFill rotWithShape="1">
          <a:blip r:embed="rId12">
            <a:alphaModFix/>
          </a:blip>
          <a:srcRect/>
          <a:stretch/>
        </p:blipFill>
        <p:spPr>
          <a:xfrm>
            <a:off x="4526756" y="2936812"/>
            <a:ext cx="304800" cy="304800"/>
          </a:xfrm>
          <a:prstGeom prst="rect">
            <a:avLst/>
          </a:prstGeom>
          <a:noFill/>
          <a:ln>
            <a:noFill/>
          </a:ln>
        </p:spPr>
      </p:pic>
      <p:pic>
        <p:nvPicPr>
          <p:cNvPr id="55" name="Google Shape;118;p14" descr="image.png">
            <a:extLst>
              <a:ext uri="{FF2B5EF4-FFF2-40B4-BE49-F238E27FC236}">
                <a16:creationId xmlns:a16="http://schemas.microsoft.com/office/drawing/2014/main" id="{BE32DD0D-42CC-C573-2B62-7385955A1938}"/>
              </a:ext>
            </a:extLst>
          </p:cNvPr>
          <p:cNvPicPr preferRelativeResize="0"/>
          <p:nvPr/>
        </p:nvPicPr>
        <p:blipFill rotWithShape="1">
          <a:blip r:embed="rId13">
            <a:alphaModFix/>
          </a:blip>
          <a:srcRect/>
          <a:stretch/>
        </p:blipFill>
        <p:spPr>
          <a:xfrm>
            <a:off x="7360443" y="2936812"/>
            <a:ext cx="304800" cy="304800"/>
          </a:xfrm>
          <a:prstGeom prst="rect">
            <a:avLst/>
          </a:prstGeom>
          <a:noFill/>
          <a:ln>
            <a:noFill/>
          </a:ln>
        </p:spPr>
      </p:pic>
      <p:pic>
        <p:nvPicPr>
          <p:cNvPr id="57" name="Google Shape;119;p14" descr="image.png">
            <a:extLst>
              <a:ext uri="{FF2B5EF4-FFF2-40B4-BE49-F238E27FC236}">
                <a16:creationId xmlns:a16="http://schemas.microsoft.com/office/drawing/2014/main" id="{45D533F4-E8CD-7BB6-D77F-799E24AD9257}"/>
              </a:ext>
            </a:extLst>
          </p:cNvPr>
          <p:cNvPicPr preferRelativeResize="0"/>
          <p:nvPr/>
        </p:nvPicPr>
        <p:blipFill rotWithShape="1">
          <a:blip r:embed="rId14">
            <a:alphaModFix/>
          </a:blip>
          <a:srcRect/>
          <a:stretch/>
        </p:blipFill>
        <p:spPr>
          <a:xfrm>
            <a:off x="10232231" y="2936812"/>
            <a:ext cx="228600" cy="304800"/>
          </a:xfrm>
          <a:prstGeom prst="rect">
            <a:avLst/>
          </a:prstGeom>
          <a:noFill/>
          <a:ln>
            <a:noFill/>
          </a:ln>
        </p:spPr>
      </p:pic>
      <p:sp>
        <p:nvSpPr>
          <p:cNvPr id="59" name="Google Shape;120;p14">
            <a:extLst>
              <a:ext uri="{FF2B5EF4-FFF2-40B4-BE49-F238E27FC236}">
                <a16:creationId xmlns:a16="http://schemas.microsoft.com/office/drawing/2014/main" id="{67CE42BB-2EFF-5E2F-CB07-67445ED46F07}"/>
              </a:ext>
            </a:extLst>
          </p:cNvPr>
          <p:cNvSpPr txBox="1"/>
          <p:nvPr/>
        </p:nvSpPr>
        <p:spPr>
          <a:xfrm>
            <a:off x="571500" y="5715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ontserrat"/>
                <a:ea typeface="Montserrat"/>
                <a:cs typeface="Montserrat"/>
                <a:sym typeface="Montserrat"/>
              </a:rPr>
              <a:t>EQUIPO DESARROLLADOR</a:t>
            </a:r>
            <a:endParaRPr/>
          </a:p>
        </p:txBody>
      </p:sp>
      <p:sp>
        <p:nvSpPr>
          <p:cNvPr id="61" name="Google Shape;121;p14">
            <a:extLst>
              <a:ext uri="{FF2B5EF4-FFF2-40B4-BE49-F238E27FC236}">
                <a16:creationId xmlns:a16="http://schemas.microsoft.com/office/drawing/2014/main" id="{C075D83A-8387-7ED4-3B86-F454A662026E}"/>
              </a:ext>
            </a:extLst>
          </p:cNvPr>
          <p:cNvSpPr txBox="1"/>
          <p:nvPr/>
        </p:nvSpPr>
        <p:spPr>
          <a:xfrm>
            <a:off x="571500" y="1133475"/>
            <a:ext cx="110490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11CAA0"/>
                </a:solidFill>
                <a:latin typeface="Open Sans SemiBold"/>
                <a:ea typeface="Open Sans SemiBold"/>
                <a:cs typeface="Open Sans SemiBold"/>
                <a:sym typeface="Open Sans SemiBold"/>
              </a:rPr>
              <a:t>Ministerio de Minas y Energía · Grupo TIC · Equipo de Estudios Estratégicos</a:t>
            </a:r>
            <a:endParaRPr/>
          </a:p>
        </p:txBody>
      </p:sp>
      <p:sp>
        <p:nvSpPr>
          <p:cNvPr id="62" name="Rectángulo 61">
            <a:extLst>
              <a:ext uri="{FF2B5EF4-FFF2-40B4-BE49-F238E27FC236}">
                <a16:creationId xmlns:a16="http://schemas.microsoft.com/office/drawing/2014/main" id="{8569B626-AD5C-AD91-72A6-83DC4F8EB5A2}"/>
              </a:ext>
            </a:extLst>
          </p:cNvPr>
          <p:cNvSpPr/>
          <p:nvPr/>
        </p:nvSpPr>
        <p:spPr>
          <a:xfrm>
            <a:off x="1490661" y="6096000"/>
            <a:ext cx="9403557" cy="266700"/>
          </a:xfrm>
          <a:prstGeom prst="rect">
            <a:avLst/>
          </a:prstGeom>
          <a:solidFill>
            <a:srgbClr val="0050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400" dirty="0"/>
              <a:t>Solución desarrollada con infraestructura del Ministerio de Minas y Energía – </a:t>
            </a:r>
            <a:r>
              <a:rPr lang="es-MX" sz="1400" dirty="0">
                <a:solidFill>
                  <a:srgbClr val="0BC2A0"/>
                </a:solidFill>
              </a:rPr>
              <a:t>Soberanía de datos y rigor institucional del EGGD</a:t>
            </a:r>
            <a:endParaRPr lang="es-CO" sz="1400" dirty="0">
              <a:solidFill>
                <a:srgbClr val="0BC2A0"/>
              </a:solidFill>
            </a:endParaRPr>
          </a:p>
        </p:txBody>
      </p:sp>
    </p:spTree>
    <p:extLst>
      <p:ext uri="{BB962C8B-B14F-4D97-AF65-F5344CB8AC3E}">
        <p14:creationId xmlns:p14="http://schemas.microsoft.com/office/powerpoint/2010/main" val="3671138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a:t>
            </a:r>
          </a:p>
        </p:txBody>
      </p:sp>
      <p:sp>
        <p:nvSpPr>
          <p:cNvPr id="5" name="Rectangle 4"/>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1220" y="640080"/>
            <a:ext cx="10959279" cy="184666"/>
          </a:xfrm>
          <a:prstGeom prst="rect">
            <a:avLst/>
          </a:prstGeom>
          <a:noFill/>
        </p:spPr>
        <p:txBody>
          <a:bodyPr wrap="square" lIns="0" tIns="0" rIns="0" bIns="0" anchor="t">
            <a:spAutoFit/>
          </a:bodyPr>
          <a:lstStyle/>
          <a:p>
            <a:r>
              <a:rPr sz="1200" b="1" i="0" spc="160" dirty="0">
                <a:solidFill>
                  <a:srgbClr val="1B7A46"/>
                </a:solidFill>
                <a:latin typeface="Montserrat"/>
              </a:rPr>
              <a:t>DATOS AL ECOSISTEMA</a:t>
            </a:r>
            <a:r>
              <a:rPr lang="en-US" sz="1200" b="1" spc="160">
                <a:solidFill>
                  <a:srgbClr val="1B7A46"/>
                </a:solidFill>
                <a:latin typeface="Montserrat"/>
              </a:rPr>
              <a:t> – COLOMBIA IA 2026</a:t>
            </a:r>
            <a:r>
              <a:rPr sz="1200" b="1" i="0" spc="160" dirty="0">
                <a:solidFill>
                  <a:srgbClr val="1B7A46"/>
                </a:solidFill>
                <a:latin typeface="Montserrat"/>
              </a:rPr>
              <a:t> · SOSTENIBILIDAD Y MEDIO AMBIENTE</a:t>
            </a:r>
          </a:p>
        </p:txBody>
      </p:sp>
      <p:sp>
        <p:nvSpPr>
          <p:cNvPr id="7" name="TextBox 6"/>
          <p:cNvSpPr txBox="1"/>
          <p:nvPr/>
        </p:nvSpPr>
        <p:spPr>
          <a:xfrm>
            <a:off x="658368" y="1234440"/>
            <a:ext cx="5212080" cy="1463040"/>
          </a:xfrm>
          <a:prstGeom prst="rect">
            <a:avLst/>
          </a:prstGeom>
          <a:noFill/>
        </p:spPr>
        <p:txBody>
          <a:bodyPr wrap="square" lIns="0" tIns="0" rIns="0" bIns="0" anchor="t">
            <a:spAutoFit/>
          </a:bodyPr>
          <a:lstStyle/>
          <a:p>
            <a:r>
              <a:rPr sz="4600" b="1" i="0">
                <a:solidFill>
                  <a:srgbClr val="123A5C"/>
                </a:solidFill>
                <a:latin typeface="Montserrat"/>
              </a:rPr>
              <a:t>AquaBosque</a:t>
            </a:r>
          </a:p>
          <a:p>
            <a:r>
              <a:rPr sz="4600" b="1" i="0">
                <a:solidFill>
                  <a:srgbClr val="1B7A46"/>
                </a:solidFill>
                <a:latin typeface="Montserrat"/>
              </a:rPr>
              <a:t>Minero IA</a:t>
            </a:r>
          </a:p>
        </p:txBody>
      </p:sp>
      <p:sp>
        <p:nvSpPr>
          <p:cNvPr id="8" name="TextBox 7"/>
          <p:cNvSpPr txBox="1"/>
          <p:nvPr/>
        </p:nvSpPr>
        <p:spPr>
          <a:xfrm>
            <a:off x="685800" y="3200400"/>
            <a:ext cx="5029200" cy="1645920"/>
          </a:xfrm>
          <a:prstGeom prst="rect">
            <a:avLst/>
          </a:prstGeom>
          <a:noFill/>
        </p:spPr>
        <p:txBody>
          <a:bodyPr wrap="square" lIns="0" tIns="0" rIns="0" bIns="0" anchor="t">
            <a:spAutoFit/>
          </a:bodyPr>
          <a:lstStyle/>
          <a:p>
            <a:r>
              <a:rPr sz="1850" b="0" i="0">
                <a:solidFill>
                  <a:srgbClr val="22302A"/>
                </a:solidFill>
                <a:latin typeface="Open Sans"/>
              </a:rPr>
              <a:t>Inteligencia artificial que prioriza dónde actuar en Colombia por riesgo ambiental —minería, deforestación y agua— usando solo datos oficiales.</a:t>
            </a:r>
          </a:p>
        </p:txBody>
      </p:sp>
      <p:sp>
        <p:nvSpPr>
          <p:cNvPr id="9" name="TextBox 8"/>
          <p:cNvSpPr txBox="1"/>
          <p:nvPr/>
        </p:nvSpPr>
        <p:spPr>
          <a:xfrm>
            <a:off x="731520" y="4892040"/>
            <a:ext cx="1600200" cy="1234440"/>
          </a:xfrm>
          <a:prstGeom prst="rect">
            <a:avLst/>
          </a:prstGeom>
          <a:noFill/>
        </p:spPr>
        <p:txBody>
          <a:bodyPr wrap="square" lIns="0" tIns="0" rIns="0" bIns="0" anchor="t">
            <a:spAutoFit/>
          </a:bodyPr>
          <a:lstStyle/>
          <a:p>
            <a:r>
              <a:rPr sz="4400" b="1" i="0">
                <a:solidFill>
                  <a:srgbClr val="123A5C"/>
                </a:solidFill>
                <a:latin typeface="Montserrat"/>
              </a:rPr>
              <a:t>1.122</a:t>
            </a:r>
          </a:p>
          <a:p>
            <a:pPr>
              <a:spcBef>
                <a:spcPts val="200"/>
              </a:spcBef>
            </a:pPr>
            <a:r>
              <a:rPr sz="1250" b="0" i="0">
                <a:solidFill>
                  <a:srgbClr val="5B6B62"/>
                </a:solidFill>
                <a:latin typeface="Open Sans"/>
              </a:rPr>
              <a:t>Municipios</a:t>
            </a:r>
          </a:p>
        </p:txBody>
      </p:sp>
      <p:sp>
        <p:nvSpPr>
          <p:cNvPr id="10" name="TextBox 9"/>
          <p:cNvSpPr txBox="1"/>
          <p:nvPr/>
        </p:nvSpPr>
        <p:spPr>
          <a:xfrm>
            <a:off x="2468880" y="4892040"/>
            <a:ext cx="1600200" cy="895117"/>
          </a:xfrm>
          <a:prstGeom prst="rect">
            <a:avLst/>
          </a:prstGeom>
          <a:noFill/>
        </p:spPr>
        <p:txBody>
          <a:bodyPr wrap="square" lIns="0" tIns="0" rIns="0" bIns="0" anchor="t">
            <a:spAutoFit/>
          </a:bodyPr>
          <a:lstStyle/>
          <a:p>
            <a:pPr algn="ctr"/>
            <a:r>
              <a:rPr sz="4400" b="1" i="0" dirty="0">
                <a:solidFill>
                  <a:srgbClr val="1B7A46"/>
                </a:solidFill>
                <a:latin typeface="Montserrat"/>
              </a:rPr>
              <a:t>5</a:t>
            </a:r>
          </a:p>
          <a:p>
            <a:pPr algn="ctr">
              <a:spcBef>
                <a:spcPts val="200"/>
              </a:spcBef>
            </a:pPr>
            <a:r>
              <a:rPr sz="1250" b="0" i="0" dirty="0" err="1">
                <a:solidFill>
                  <a:srgbClr val="5B6B62"/>
                </a:solidFill>
                <a:latin typeface="Open Sans"/>
              </a:rPr>
              <a:t>Dimensiones</a:t>
            </a:r>
            <a:endParaRPr sz="1250" b="0" i="0" dirty="0">
              <a:solidFill>
                <a:srgbClr val="5B6B62"/>
              </a:solidFill>
              <a:latin typeface="Open Sans"/>
            </a:endParaRPr>
          </a:p>
        </p:txBody>
      </p:sp>
      <p:sp>
        <p:nvSpPr>
          <p:cNvPr id="11" name="TextBox 10"/>
          <p:cNvSpPr txBox="1"/>
          <p:nvPr/>
        </p:nvSpPr>
        <p:spPr>
          <a:xfrm>
            <a:off x="4206240" y="4892040"/>
            <a:ext cx="1600200" cy="1234440"/>
          </a:xfrm>
          <a:prstGeom prst="rect">
            <a:avLst/>
          </a:prstGeom>
          <a:noFill/>
        </p:spPr>
        <p:txBody>
          <a:bodyPr wrap="square" lIns="0" tIns="0" rIns="0" bIns="0" anchor="t">
            <a:spAutoFit/>
          </a:bodyPr>
          <a:lstStyle/>
          <a:p>
            <a:r>
              <a:rPr sz="4400" b="1" i="0">
                <a:solidFill>
                  <a:srgbClr val="123A5C"/>
                </a:solidFill>
                <a:latin typeface="Montserrat"/>
              </a:rPr>
              <a:t>100%</a:t>
            </a:r>
          </a:p>
          <a:p>
            <a:pPr>
              <a:spcBef>
                <a:spcPts val="200"/>
              </a:spcBef>
            </a:pPr>
            <a:r>
              <a:rPr sz="1250" b="0" i="0">
                <a:solidFill>
                  <a:srgbClr val="5B6B62"/>
                </a:solidFill>
                <a:latin typeface="Open Sans"/>
              </a:rPr>
              <a:t>Datos abiertos</a:t>
            </a:r>
          </a:p>
        </p:txBody>
      </p:sp>
      <p:pic>
        <p:nvPicPr>
          <p:cNvPr id="12" name="Picture 11" descr="18_portada_framed.png"/>
          <p:cNvPicPr>
            <a:picLocks noChangeAspect="1"/>
          </p:cNvPicPr>
          <p:nvPr/>
        </p:nvPicPr>
        <p:blipFill>
          <a:blip r:embed="rId3"/>
          <a:stretch>
            <a:fillRect/>
          </a:stretch>
        </p:blipFill>
        <p:spPr>
          <a:xfrm>
            <a:off x="5943600" y="1234440"/>
            <a:ext cx="5669280" cy="4090666"/>
          </a:xfrm>
          <a:prstGeom prst="roundRect">
            <a:avLst>
              <a:gd name="adj" fmla="val 4200"/>
            </a:avLst>
          </a:prstGeom>
          <a:effectLst>
            <a:outerShdw blurRad="90000" dist="38100" dir="5400000" rotWithShape="0">
              <a:srgbClr val="0B1F17">
                <a:alpha val="20000"/>
              </a:srgbClr>
            </a:outerShdw>
          </a:effectLst>
        </p:spPr>
      </p:pic>
      <p:sp>
        <p:nvSpPr>
          <p:cNvPr id="13" name="TextBox 12"/>
          <p:cNvSpPr txBox="1"/>
          <p:nvPr/>
        </p:nvSpPr>
        <p:spPr>
          <a:xfrm>
            <a:off x="685800" y="6455664"/>
            <a:ext cx="82296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 · Grupo de Datos Estratégicos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2</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EL PROBLEMA</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dirty="0">
                <a:solidFill>
                  <a:srgbClr val="123A5C"/>
                </a:solidFill>
                <a:latin typeface="Montserrat"/>
              </a:rPr>
              <a:t>No </a:t>
            </a:r>
            <a:r>
              <a:rPr sz="3300" b="1" i="0" dirty="0" err="1">
                <a:solidFill>
                  <a:srgbClr val="123A5C"/>
                </a:solidFill>
                <a:latin typeface="Montserrat"/>
              </a:rPr>
              <a:t>falta</a:t>
            </a:r>
            <a:r>
              <a:rPr sz="3300" b="1" i="0" dirty="0">
                <a:solidFill>
                  <a:srgbClr val="123A5C"/>
                </a:solidFill>
                <a:latin typeface="Montserrat"/>
              </a:rPr>
              <a:t> </a:t>
            </a:r>
            <a:r>
              <a:rPr sz="3300" b="1" i="0" dirty="0" err="1">
                <a:solidFill>
                  <a:srgbClr val="123A5C"/>
                </a:solidFill>
                <a:latin typeface="Montserrat"/>
              </a:rPr>
              <a:t>información</a:t>
            </a:r>
            <a:r>
              <a:rPr sz="3300" b="1" i="0" dirty="0">
                <a:solidFill>
                  <a:srgbClr val="123A5C"/>
                </a:solidFill>
                <a:latin typeface="Montserrat"/>
              </a:rPr>
              <a:t>.</a:t>
            </a:r>
          </a:p>
          <a:p>
            <a:pPr algn="l">
              <a:lnSpc>
                <a:spcPct val="104000"/>
              </a:lnSpc>
            </a:pPr>
            <a:r>
              <a:rPr sz="3300" b="1" i="0" dirty="0">
                <a:solidFill>
                  <a:srgbClr val="123A5C"/>
                </a:solidFill>
                <a:latin typeface="Montserrat"/>
              </a:rPr>
              <a:t>Falta </a:t>
            </a:r>
            <a:r>
              <a:rPr sz="3300" b="1" i="0" dirty="0" err="1">
                <a:solidFill>
                  <a:srgbClr val="123A5C"/>
                </a:solidFill>
                <a:latin typeface="Montserrat"/>
              </a:rPr>
              <a:t>integrarla</a:t>
            </a:r>
            <a:r>
              <a:rPr sz="3300" b="1" i="0" dirty="0">
                <a:solidFill>
                  <a:srgbClr val="123A5C"/>
                </a:solidFill>
                <a:latin typeface="Montserrat"/>
              </a:rPr>
              <a:t>.</a:t>
            </a:r>
          </a:p>
        </p:txBody>
      </p:sp>
      <p:sp>
        <p:nvSpPr>
          <p:cNvPr id="8" name="TextBox 7"/>
          <p:cNvSpPr txBox="1"/>
          <p:nvPr/>
        </p:nvSpPr>
        <p:spPr>
          <a:xfrm>
            <a:off x="713231" y="2611065"/>
            <a:ext cx="6243749" cy="2253822"/>
          </a:xfrm>
          <a:prstGeom prst="rect">
            <a:avLst/>
          </a:prstGeom>
          <a:noFill/>
        </p:spPr>
        <p:txBody>
          <a:bodyPr wrap="square" lIns="0" tIns="0" rIns="0" bIns="0" anchor="t">
            <a:spAutoFit/>
          </a:bodyPr>
          <a:lstStyle/>
          <a:p>
            <a:pPr algn="just">
              <a:lnSpc>
                <a:spcPct val="112000"/>
              </a:lnSpc>
              <a:spcAft>
                <a:spcPts val="1400"/>
              </a:spcAft>
            </a:pPr>
            <a:r>
              <a:rPr sz="1100" b="1" i="0" dirty="0">
                <a:solidFill>
                  <a:srgbClr val="1B7A46"/>
                </a:solidFill>
                <a:latin typeface="Open Sans"/>
              </a:rPr>
              <a:t>●  </a:t>
            </a:r>
            <a:r>
              <a:rPr sz="1850" b="0" i="0" dirty="0">
                <a:solidFill>
                  <a:srgbClr val="22302A"/>
                </a:solidFill>
                <a:latin typeface="Open Sans"/>
              </a:rPr>
              <a:t>Colombia </a:t>
            </a:r>
            <a:r>
              <a:rPr sz="1850" b="0" i="0" dirty="0" err="1">
                <a:solidFill>
                  <a:srgbClr val="22302A"/>
                </a:solidFill>
                <a:latin typeface="Open Sans"/>
              </a:rPr>
              <a:t>tiene</a:t>
            </a:r>
            <a:r>
              <a:rPr sz="1850" b="0" i="0" dirty="0">
                <a:solidFill>
                  <a:srgbClr val="22302A"/>
                </a:solidFill>
                <a:latin typeface="Open Sans"/>
              </a:rPr>
              <a:t> </a:t>
            </a:r>
            <a:r>
              <a:rPr sz="1850" b="0" i="0" dirty="0" err="1">
                <a:solidFill>
                  <a:srgbClr val="22302A"/>
                </a:solidFill>
                <a:latin typeface="Open Sans"/>
              </a:rPr>
              <a:t>muchos</a:t>
            </a:r>
            <a:r>
              <a:rPr sz="1850" b="0" i="0" dirty="0">
                <a:solidFill>
                  <a:srgbClr val="22302A"/>
                </a:solidFill>
                <a:latin typeface="Open Sans"/>
              </a:rPr>
              <a:t> </a:t>
            </a:r>
            <a:r>
              <a:rPr sz="1850" b="0" i="0" dirty="0" err="1">
                <a:solidFill>
                  <a:srgbClr val="22302A"/>
                </a:solidFill>
                <a:latin typeface="Open Sans"/>
              </a:rPr>
              <a:t>datos</a:t>
            </a:r>
            <a:r>
              <a:rPr sz="1850" b="0" i="0" dirty="0">
                <a:solidFill>
                  <a:srgbClr val="22302A"/>
                </a:solidFill>
                <a:latin typeface="Open Sans"/>
              </a:rPr>
              <a:t> </a:t>
            </a:r>
            <a:r>
              <a:rPr sz="1850" b="0" i="0" dirty="0" err="1">
                <a:solidFill>
                  <a:srgbClr val="22302A"/>
                </a:solidFill>
                <a:latin typeface="Open Sans"/>
              </a:rPr>
              <a:t>ambientales</a:t>
            </a:r>
            <a:r>
              <a:rPr sz="1850" b="0" i="0" dirty="0">
                <a:solidFill>
                  <a:srgbClr val="22302A"/>
                </a:solidFill>
                <a:latin typeface="Open Sans"/>
              </a:rPr>
              <a:t>, </a:t>
            </a:r>
            <a:r>
              <a:rPr sz="1850" b="0" i="0" dirty="0" err="1">
                <a:solidFill>
                  <a:srgbClr val="22302A"/>
                </a:solidFill>
                <a:latin typeface="Open Sans"/>
              </a:rPr>
              <a:t>pero</a:t>
            </a:r>
            <a:r>
              <a:rPr sz="1850" b="0" i="0" dirty="0">
                <a:solidFill>
                  <a:srgbClr val="22302A"/>
                </a:solidFill>
                <a:latin typeface="Open Sans"/>
              </a:rPr>
              <a:t> </a:t>
            </a:r>
            <a:r>
              <a:rPr sz="1850" b="0" i="0" dirty="0" err="1">
                <a:solidFill>
                  <a:srgbClr val="22302A"/>
                </a:solidFill>
                <a:latin typeface="Open Sans"/>
              </a:rPr>
              <a:t>dispersos</a:t>
            </a:r>
            <a:r>
              <a:rPr sz="1850" b="0" i="0" dirty="0">
                <a:solidFill>
                  <a:srgbClr val="22302A"/>
                </a:solidFill>
                <a:latin typeface="Open Sans"/>
              </a:rPr>
              <a:t> </a:t>
            </a:r>
            <a:r>
              <a:rPr sz="1850" b="0" i="0" dirty="0" err="1">
                <a:solidFill>
                  <a:srgbClr val="22302A"/>
                </a:solidFill>
                <a:latin typeface="Open Sans"/>
              </a:rPr>
              <a:t>por</a:t>
            </a:r>
            <a:r>
              <a:rPr sz="1850" b="0" i="0" dirty="0">
                <a:solidFill>
                  <a:srgbClr val="22302A"/>
                </a:solidFill>
                <a:latin typeface="Open Sans"/>
              </a:rPr>
              <a:t> </a:t>
            </a:r>
            <a:r>
              <a:rPr sz="1850" b="0" i="0" dirty="0" err="1">
                <a:solidFill>
                  <a:srgbClr val="22302A"/>
                </a:solidFill>
                <a:latin typeface="Open Sans"/>
              </a:rPr>
              <a:t>fuente</a:t>
            </a:r>
            <a:r>
              <a:rPr sz="1850" b="0" i="0" dirty="0">
                <a:solidFill>
                  <a:srgbClr val="22302A"/>
                </a:solidFill>
                <a:latin typeface="Open Sans"/>
              </a:rPr>
              <a:t> y </a:t>
            </a:r>
            <a:r>
              <a:rPr sz="1850" b="0" i="0" dirty="0" err="1">
                <a:solidFill>
                  <a:srgbClr val="22302A"/>
                </a:solidFill>
                <a:latin typeface="Open Sans"/>
              </a:rPr>
              <a:t>por</a:t>
            </a:r>
            <a:r>
              <a:rPr sz="1850" b="0" i="0" dirty="0">
                <a:solidFill>
                  <a:srgbClr val="22302A"/>
                </a:solidFill>
                <a:latin typeface="Open Sans"/>
              </a:rPr>
              <a:t> sector.</a:t>
            </a:r>
          </a:p>
          <a:p>
            <a:pPr algn="just">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Revisar</a:t>
            </a:r>
            <a:r>
              <a:rPr sz="1850" b="0" i="0" dirty="0">
                <a:solidFill>
                  <a:srgbClr val="22302A"/>
                </a:solidFill>
                <a:latin typeface="Open Sans"/>
              </a:rPr>
              <a:t> </a:t>
            </a:r>
            <a:r>
              <a:rPr sz="1850" b="0" i="0" dirty="0" err="1">
                <a:solidFill>
                  <a:srgbClr val="22302A"/>
                </a:solidFill>
                <a:latin typeface="Open Sans"/>
              </a:rPr>
              <a:t>minería</a:t>
            </a:r>
            <a:r>
              <a:rPr sz="1850" b="0" i="0" dirty="0">
                <a:solidFill>
                  <a:srgbClr val="22302A"/>
                </a:solidFill>
                <a:latin typeface="Open Sans"/>
              </a:rPr>
              <a:t>, bosque y </a:t>
            </a:r>
            <a:r>
              <a:rPr sz="1850" b="0" i="0" dirty="0" err="1">
                <a:solidFill>
                  <a:srgbClr val="22302A"/>
                </a:solidFill>
                <a:latin typeface="Open Sans"/>
              </a:rPr>
              <a:t>agua</a:t>
            </a:r>
            <a:r>
              <a:rPr sz="1850" b="0" i="0" dirty="0">
                <a:solidFill>
                  <a:srgbClr val="22302A"/>
                </a:solidFill>
                <a:latin typeface="Open Sans"/>
              </a:rPr>
              <a:t> </a:t>
            </a:r>
            <a:r>
              <a:rPr sz="1850" b="0" i="0" dirty="0" err="1">
                <a:solidFill>
                  <a:srgbClr val="22302A"/>
                </a:solidFill>
                <a:latin typeface="Open Sans"/>
              </a:rPr>
              <a:t>por</a:t>
            </a:r>
            <a:r>
              <a:rPr sz="1850" b="0" i="0" dirty="0">
                <a:solidFill>
                  <a:srgbClr val="22302A"/>
                </a:solidFill>
                <a:latin typeface="Open Sans"/>
              </a:rPr>
              <a:t> </a:t>
            </a:r>
            <a:r>
              <a:rPr sz="1850" b="0" i="0" dirty="0" err="1">
                <a:solidFill>
                  <a:srgbClr val="22302A"/>
                </a:solidFill>
                <a:latin typeface="Open Sans"/>
              </a:rPr>
              <a:t>separado</a:t>
            </a:r>
            <a:r>
              <a:rPr sz="1850" b="0" i="0" dirty="0">
                <a:solidFill>
                  <a:srgbClr val="22302A"/>
                </a:solidFill>
                <a:latin typeface="Open Sans"/>
              </a:rPr>
              <a:t> </a:t>
            </a:r>
            <a:r>
              <a:rPr sz="1850" b="0" i="0" dirty="0" err="1">
                <a:solidFill>
                  <a:srgbClr val="22302A"/>
                </a:solidFill>
                <a:latin typeface="Open Sans"/>
              </a:rPr>
              <a:t>retrasa</a:t>
            </a:r>
            <a:r>
              <a:rPr sz="1850" b="0" i="0" dirty="0">
                <a:solidFill>
                  <a:srgbClr val="22302A"/>
                </a:solidFill>
                <a:latin typeface="Open Sans"/>
              </a:rPr>
              <a:t> las </a:t>
            </a:r>
            <a:r>
              <a:rPr sz="1850" b="0" i="0" dirty="0" err="1">
                <a:solidFill>
                  <a:srgbClr val="22302A"/>
                </a:solidFill>
                <a:latin typeface="Open Sans"/>
              </a:rPr>
              <a:t>decisiones</a:t>
            </a:r>
            <a:r>
              <a:rPr sz="1850" b="0" i="0" dirty="0">
                <a:solidFill>
                  <a:srgbClr val="22302A"/>
                </a:solidFill>
                <a:latin typeface="Open Sans"/>
              </a:rPr>
              <a:t>.</a:t>
            </a:r>
          </a:p>
          <a:p>
            <a:pPr algn="just">
              <a:lnSpc>
                <a:spcPct val="112000"/>
              </a:lnSpc>
              <a:spcAft>
                <a:spcPts val="1400"/>
              </a:spcAft>
            </a:pPr>
            <a:r>
              <a:rPr sz="1100" b="1" i="0" dirty="0">
                <a:solidFill>
                  <a:srgbClr val="1B7A46"/>
                </a:solidFill>
                <a:latin typeface="Open Sans"/>
              </a:rPr>
              <a:t>●  </a:t>
            </a:r>
            <a:r>
              <a:rPr sz="1850" b="0" i="0" dirty="0">
                <a:solidFill>
                  <a:srgbClr val="22302A"/>
                </a:solidFill>
                <a:latin typeface="Open Sans"/>
              </a:rPr>
              <a:t>El </a:t>
            </a:r>
            <a:r>
              <a:rPr sz="1850" b="0" i="0" dirty="0" err="1">
                <a:solidFill>
                  <a:srgbClr val="22302A"/>
                </a:solidFill>
                <a:latin typeface="Open Sans"/>
              </a:rPr>
              <a:t>Ministerio</a:t>
            </a:r>
            <a:r>
              <a:rPr sz="1850" b="0" i="0" dirty="0">
                <a:solidFill>
                  <a:srgbClr val="22302A"/>
                </a:solidFill>
                <a:latin typeface="Open Sans"/>
              </a:rPr>
              <a:t> </a:t>
            </a:r>
            <a:r>
              <a:rPr sz="1850" b="0" i="0" dirty="0" err="1">
                <a:solidFill>
                  <a:srgbClr val="22302A"/>
                </a:solidFill>
                <a:latin typeface="Open Sans"/>
              </a:rPr>
              <a:t>necesita</a:t>
            </a:r>
            <a:r>
              <a:rPr sz="1850" b="0" i="0" dirty="0">
                <a:solidFill>
                  <a:srgbClr val="22302A"/>
                </a:solidFill>
                <a:latin typeface="Open Sans"/>
              </a:rPr>
              <a:t> </a:t>
            </a:r>
            <a:r>
              <a:rPr sz="1850" b="0" i="0" dirty="0" err="1">
                <a:solidFill>
                  <a:srgbClr val="22302A"/>
                </a:solidFill>
                <a:latin typeface="Open Sans"/>
              </a:rPr>
              <a:t>una</a:t>
            </a:r>
            <a:r>
              <a:rPr sz="1850" b="0" i="0" dirty="0">
                <a:solidFill>
                  <a:srgbClr val="22302A"/>
                </a:solidFill>
                <a:latin typeface="Open Sans"/>
              </a:rPr>
              <a:t> </a:t>
            </a:r>
            <a:r>
              <a:rPr sz="1850" b="0" i="0" dirty="0" err="1">
                <a:solidFill>
                  <a:srgbClr val="22302A"/>
                </a:solidFill>
                <a:latin typeface="Open Sans"/>
              </a:rPr>
              <a:t>lectura</a:t>
            </a:r>
            <a:r>
              <a:rPr sz="1850" b="0" i="0" dirty="0">
                <a:solidFill>
                  <a:srgbClr val="22302A"/>
                </a:solidFill>
                <a:latin typeface="Open Sans"/>
              </a:rPr>
              <a:t> territorial </a:t>
            </a:r>
            <a:r>
              <a:rPr sz="1850" b="0" i="0" dirty="0" err="1">
                <a:solidFill>
                  <a:srgbClr val="22302A"/>
                </a:solidFill>
                <a:latin typeface="Open Sans"/>
              </a:rPr>
              <a:t>integrada</a:t>
            </a:r>
            <a:r>
              <a:rPr sz="1850" b="0" i="0" dirty="0">
                <a:solidFill>
                  <a:srgbClr val="22302A"/>
                </a:solidFill>
                <a:latin typeface="Open Sans"/>
              </a:rPr>
              <a:t>, no </a:t>
            </a:r>
            <a:r>
              <a:rPr sz="1850" b="0" i="0" dirty="0" err="1">
                <a:solidFill>
                  <a:srgbClr val="22302A"/>
                </a:solidFill>
                <a:latin typeface="Open Sans"/>
              </a:rPr>
              <a:t>otro</a:t>
            </a:r>
            <a:r>
              <a:rPr sz="1850" b="0" i="0" dirty="0">
                <a:solidFill>
                  <a:srgbClr val="22302A"/>
                </a:solidFill>
                <a:latin typeface="Open Sans"/>
              </a:rPr>
              <a:t> </a:t>
            </a:r>
            <a:r>
              <a:rPr sz="1850" b="0" i="0" dirty="0" err="1">
                <a:solidFill>
                  <a:srgbClr val="22302A"/>
                </a:solidFill>
                <a:latin typeface="Open Sans"/>
              </a:rPr>
              <a:t>tablero</a:t>
            </a:r>
            <a:r>
              <a:rPr sz="1850" b="0" i="0" dirty="0">
                <a:solidFill>
                  <a:srgbClr val="22302A"/>
                </a:solidFill>
                <a:latin typeface="Open Sans"/>
              </a:rPr>
              <a:t> </a:t>
            </a:r>
            <a:r>
              <a:rPr sz="1850" b="0" i="0" dirty="0" err="1">
                <a:solidFill>
                  <a:srgbClr val="22302A"/>
                </a:solidFill>
                <a:latin typeface="Open Sans"/>
              </a:rPr>
              <a:t>aislado</a:t>
            </a:r>
            <a:r>
              <a:rPr sz="1850" b="0" i="0" dirty="0">
                <a:solidFill>
                  <a:srgbClr val="22302A"/>
                </a:solidFill>
                <a:latin typeface="Open Sans"/>
              </a:rPr>
              <a:t>.</a:t>
            </a:r>
          </a:p>
        </p:txBody>
      </p:sp>
      <p:grpSp>
        <p:nvGrpSpPr>
          <p:cNvPr id="14" name="Grupo 13">
            <a:extLst>
              <a:ext uri="{FF2B5EF4-FFF2-40B4-BE49-F238E27FC236}">
                <a16:creationId xmlns:a16="http://schemas.microsoft.com/office/drawing/2014/main" id="{24ADF7F1-7EB7-62A7-CF68-A18364188012}"/>
              </a:ext>
            </a:extLst>
          </p:cNvPr>
          <p:cNvGrpSpPr/>
          <p:nvPr/>
        </p:nvGrpSpPr>
        <p:grpSpPr>
          <a:xfrm>
            <a:off x="7670211" y="927990"/>
            <a:ext cx="3321047" cy="5125338"/>
            <a:chOff x="7621170" y="1349121"/>
            <a:chExt cx="2827221" cy="4363221"/>
          </a:xfrm>
        </p:grpSpPr>
        <p:pic>
          <p:nvPicPr>
            <p:cNvPr id="9" name="Picture 8" descr="11_cobertura_senales.png"/>
            <p:cNvPicPr>
              <a:picLocks noChangeAspect="1"/>
            </p:cNvPicPr>
            <p:nvPr/>
          </p:nvPicPr>
          <p:blipFill>
            <a:blip r:embed="rId3"/>
            <a:srcRect l="32221" t="8058" r="35202"/>
            <a:stretch>
              <a:fillRect/>
            </a:stretch>
          </p:blipFill>
          <p:spPr>
            <a:xfrm>
              <a:off x="7621170" y="1779178"/>
              <a:ext cx="2167835" cy="3933164"/>
            </a:xfrm>
            <a:prstGeom prst="roundRect">
              <a:avLst>
                <a:gd name="adj" fmla="val 4200"/>
              </a:avLst>
            </a:prstGeom>
            <a:effectLst/>
          </p:spPr>
        </p:pic>
        <p:pic>
          <p:nvPicPr>
            <p:cNvPr id="11" name="Picture 8" descr="11_cobertura_senales.png">
              <a:extLst>
                <a:ext uri="{FF2B5EF4-FFF2-40B4-BE49-F238E27FC236}">
                  <a16:creationId xmlns:a16="http://schemas.microsoft.com/office/drawing/2014/main" id="{6111FA45-F1EE-9E4C-8063-6FC612C2F166}"/>
                </a:ext>
              </a:extLst>
            </p:cNvPr>
            <p:cNvPicPr>
              <a:picLocks noChangeAspect="1"/>
            </p:cNvPicPr>
            <p:nvPr/>
          </p:nvPicPr>
          <p:blipFill>
            <a:blip r:embed="rId3"/>
            <a:srcRect l="87568" t="8058" r="1"/>
            <a:stretch>
              <a:fillRect/>
            </a:stretch>
          </p:blipFill>
          <p:spPr>
            <a:xfrm>
              <a:off x="9621135" y="1774691"/>
              <a:ext cx="827256" cy="3933164"/>
            </a:xfrm>
            <a:prstGeom prst="roundRect">
              <a:avLst>
                <a:gd name="adj" fmla="val 4200"/>
              </a:avLst>
            </a:prstGeom>
            <a:effectLst/>
          </p:spPr>
        </p:pic>
        <p:sp>
          <p:nvSpPr>
            <p:cNvPr id="13" name="TextBox 6">
              <a:extLst>
                <a:ext uri="{FF2B5EF4-FFF2-40B4-BE49-F238E27FC236}">
                  <a16:creationId xmlns:a16="http://schemas.microsoft.com/office/drawing/2014/main" id="{2171262D-66F7-54F0-ABD2-E36A765568D8}"/>
                </a:ext>
              </a:extLst>
            </p:cNvPr>
            <p:cNvSpPr txBox="1"/>
            <p:nvPr/>
          </p:nvSpPr>
          <p:spPr>
            <a:xfrm>
              <a:off x="7621170" y="1349121"/>
              <a:ext cx="2827221" cy="374141"/>
            </a:xfrm>
            <a:prstGeom prst="rect">
              <a:avLst/>
            </a:prstGeom>
            <a:noFill/>
          </p:spPr>
          <p:txBody>
            <a:bodyPr wrap="square" lIns="0" tIns="0" rIns="0" bIns="0" anchor="t">
              <a:spAutoFit/>
            </a:bodyPr>
            <a:lstStyle/>
            <a:p>
              <a:pPr algn="ctr">
                <a:lnSpc>
                  <a:spcPct val="104000"/>
                </a:lnSpc>
              </a:pPr>
              <a:r>
                <a:rPr lang="es-MX" sz="1200" b="1" i="0" dirty="0">
                  <a:solidFill>
                    <a:srgbClr val="123A5C"/>
                  </a:solidFill>
                  <a:latin typeface="Montserrat"/>
                </a:rPr>
                <a:t>Cobertura territorial por número de señales observadas</a:t>
              </a:r>
              <a:endParaRPr sz="1200" b="1" i="0" dirty="0">
                <a:solidFill>
                  <a:srgbClr val="123A5C"/>
                </a:solidFill>
                <a:latin typeface="Montserra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3</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LA PROPUESTA</a:t>
            </a:r>
          </a:p>
        </p:txBody>
      </p:sp>
      <p:sp>
        <p:nvSpPr>
          <p:cNvPr id="7" name="TextBox 6"/>
          <p:cNvSpPr txBox="1"/>
          <p:nvPr/>
        </p:nvSpPr>
        <p:spPr>
          <a:xfrm>
            <a:off x="658368" y="804672"/>
            <a:ext cx="8046720" cy="1028871"/>
          </a:xfrm>
          <a:prstGeom prst="rect">
            <a:avLst/>
          </a:prstGeom>
          <a:noFill/>
        </p:spPr>
        <p:txBody>
          <a:bodyPr wrap="square" lIns="0" tIns="0" rIns="0" bIns="0" anchor="t">
            <a:spAutoFit/>
          </a:bodyPr>
          <a:lstStyle/>
          <a:p>
            <a:pPr algn="l">
              <a:lnSpc>
                <a:spcPct val="104000"/>
              </a:lnSpc>
            </a:pPr>
            <a:r>
              <a:rPr sz="3300" b="1" i="0" dirty="0">
                <a:solidFill>
                  <a:srgbClr val="123A5C"/>
                </a:solidFill>
                <a:latin typeface="Montserrat"/>
              </a:rPr>
              <a:t>De </a:t>
            </a:r>
            <a:r>
              <a:rPr sz="3300" b="1" i="0" dirty="0" err="1">
                <a:solidFill>
                  <a:srgbClr val="123A5C"/>
                </a:solidFill>
                <a:latin typeface="Montserrat"/>
              </a:rPr>
              <a:t>datos</a:t>
            </a:r>
            <a:r>
              <a:rPr sz="3300" b="1" i="0" dirty="0">
                <a:solidFill>
                  <a:srgbClr val="123A5C"/>
                </a:solidFill>
                <a:latin typeface="Montserrat"/>
              </a:rPr>
              <a:t> </a:t>
            </a:r>
            <a:r>
              <a:rPr sz="3300" b="1" i="0" dirty="0" err="1">
                <a:solidFill>
                  <a:srgbClr val="123A5C"/>
                </a:solidFill>
                <a:latin typeface="Montserrat"/>
              </a:rPr>
              <a:t>dispersos</a:t>
            </a:r>
            <a:endParaRPr sz="3300" b="1" i="0" dirty="0">
              <a:solidFill>
                <a:srgbClr val="123A5C"/>
              </a:solidFill>
              <a:latin typeface="Montserrat"/>
            </a:endParaRPr>
          </a:p>
          <a:p>
            <a:pPr algn="l">
              <a:lnSpc>
                <a:spcPct val="104000"/>
              </a:lnSpc>
            </a:pPr>
            <a:r>
              <a:rPr sz="3300" b="1" i="0" dirty="0">
                <a:solidFill>
                  <a:srgbClr val="123A5C"/>
                </a:solidFill>
                <a:latin typeface="Montserrat"/>
              </a:rPr>
              <a:t>a </a:t>
            </a:r>
            <a:r>
              <a:rPr sz="3300" b="1" i="0" dirty="0" err="1">
                <a:solidFill>
                  <a:srgbClr val="123A5C"/>
                </a:solidFill>
                <a:latin typeface="Montserrat"/>
              </a:rPr>
              <a:t>decisiones</a:t>
            </a:r>
            <a:r>
              <a:rPr sz="3300" b="1" i="0" dirty="0">
                <a:solidFill>
                  <a:srgbClr val="123A5C"/>
                </a:solidFill>
                <a:latin typeface="Montserrat"/>
              </a:rPr>
              <a:t>.</a:t>
            </a:r>
          </a:p>
        </p:txBody>
      </p:sp>
      <p:sp>
        <p:nvSpPr>
          <p:cNvPr id="8" name="TextBox 7"/>
          <p:cNvSpPr txBox="1"/>
          <p:nvPr/>
        </p:nvSpPr>
        <p:spPr>
          <a:xfrm>
            <a:off x="627149" y="2901328"/>
            <a:ext cx="5164096" cy="1934953"/>
          </a:xfrm>
          <a:prstGeom prst="rect">
            <a:avLst/>
          </a:prstGeom>
          <a:noFill/>
        </p:spPr>
        <p:txBody>
          <a:bodyPr wrap="square" lIns="0" tIns="0" rIns="0" bIns="0" anchor="t">
            <a:spAutoFit/>
          </a:bodyPr>
          <a:lstStyle/>
          <a:p>
            <a:pPr algn="just">
              <a:lnSpc>
                <a:spcPct val="112000"/>
              </a:lnSpc>
              <a:spcAft>
                <a:spcPts val="1400"/>
              </a:spcAft>
            </a:pPr>
            <a:r>
              <a:rPr sz="1100" b="1" i="0" dirty="0">
                <a:solidFill>
                  <a:srgbClr val="1B7A46"/>
                </a:solidFill>
                <a:latin typeface="Open Sans"/>
              </a:rPr>
              <a:t>●  </a:t>
            </a:r>
            <a:r>
              <a:rPr sz="1850" b="0" i="0" dirty="0">
                <a:solidFill>
                  <a:srgbClr val="22302A"/>
                </a:solidFill>
                <a:latin typeface="Open Sans"/>
              </a:rPr>
              <a:t>Es un </a:t>
            </a:r>
            <a:r>
              <a:rPr sz="1850" b="0" i="0" dirty="0" err="1">
                <a:solidFill>
                  <a:srgbClr val="22302A"/>
                </a:solidFill>
                <a:latin typeface="Open Sans"/>
              </a:rPr>
              <a:t>producto</a:t>
            </a:r>
            <a:r>
              <a:rPr sz="1850" b="0" i="0" dirty="0">
                <a:solidFill>
                  <a:srgbClr val="22302A"/>
                </a:solidFill>
                <a:latin typeface="Open Sans"/>
              </a:rPr>
              <a:t> </a:t>
            </a:r>
            <a:r>
              <a:rPr sz="1850" b="0" i="0" dirty="0" err="1">
                <a:solidFill>
                  <a:srgbClr val="22302A"/>
                </a:solidFill>
                <a:latin typeface="Open Sans"/>
              </a:rPr>
              <a:t>funcional</a:t>
            </a:r>
            <a:r>
              <a:rPr sz="1850" b="0" i="0" dirty="0">
                <a:solidFill>
                  <a:srgbClr val="22302A"/>
                </a:solidFill>
                <a:latin typeface="Open Sans"/>
              </a:rPr>
              <a:t>, no un </a:t>
            </a:r>
            <a:r>
              <a:rPr sz="1850" b="0" i="0" dirty="0" err="1">
                <a:solidFill>
                  <a:srgbClr val="22302A"/>
                </a:solidFill>
                <a:latin typeface="Open Sans"/>
              </a:rPr>
              <a:t>concepto</a:t>
            </a:r>
            <a:r>
              <a:rPr sz="1850" b="0" i="0" dirty="0">
                <a:solidFill>
                  <a:srgbClr val="22302A"/>
                </a:solidFill>
                <a:latin typeface="Open Sans"/>
              </a:rPr>
              <a:t>.</a:t>
            </a:r>
          </a:p>
          <a:p>
            <a:pPr algn="just">
              <a:lnSpc>
                <a:spcPct val="112000"/>
              </a:lnSpc>
              <a:spcAft>
                <a:spcPts val="1400"/>
              </a:spcAft>
            </a:pPr>
            <a:r>
              <a:rPr sz="1100" b="1" i="0" dirty="0">
                <a:solidFill>
                  <a:srgbClr val="1B7A46"/>
                </a:solidFill>
                <a:latin typeface="Open Sans"/>
              </a:rPr>
              <a:t>●  </a:t>
            </a:r>
            <a:r>
              <a:rPr sz="1850" b="0" i="0" dirty="0">
                <a:solidFill>
                  <a:srgbClr val="22302A"/>
                </a:solidFill>
                <a:latin typeface="Open Sans"/>
              </a:rPr>
              <a:t>Une </a:t>
            </a:r>
            <a:r>
              <a:rPr sz="1850" b="0" i="0" dirty="0" err="1">
                <a:solidFill>
                  <a:srgbClr val="22302A"/>
                </a:solidFill>
                <a:latin typeface="Open Sans"/>
              </a:rPr>
              <a:t>los</a:t>
            </a:r>
            <a:r>
              <a:rPr sz="1850" b="0" i="0" dirty="0">
                <a:solidFill>
                  <a:srgbClr val="22302A"/>
                </a:solidFill>
                <a:latin typeface="Open Sans"/>
              </a:rPr>
              <a:t> </a:t>
            </a:r>
            <a:r>
              <a:rPr sz="1850" b="0" i="0" dirty="0" err="1">
                <a:solidFill>
                  <a:srgbClr val="22302A"/>
                </a:solidFill>
                <a:latin typeface="Open Sans"/>
              </a:rPr>
              <a:t>datos</a:t>
            </a:r>
            <a:r>
              <a:rPr sz="1850" b="0" i="0" dirty="0">
                <a:solidFill>
                  <a:srgbClr val="22302A"/>
                </a:solidFill>
                <a:latin typeface="Open Sans"/>
              </a:rPr>
              <a:t> a </a:t>
            </a:r>
            <a:r>
              <a:rPr sz="1850" b="0" i="0" dirty="0" err="1">
                <a:solidFill>
                  <a:srgbClr val="22302A"/>
                </a:solidFill>
                <a:latin typeface="Open Sans"/>
              </a:rPr>
              <a:t>nivel</a:t>
            </a:r>
            <a:r>
              <a:rPr sz="1850" b="0" i="0" dirty="0">
                <a:solidFill>
                  <a:srgbClr val="22302A"/>
                </a:solidFill>
                <a:latin typeface="Open Sans"/>
              </a:rPr>
              <a:t> municipal y la IA </a:t>
            </a:r>
            <a:r>
              <a:rPr sz="1850" b="0" i="0" dirty="0" err="1">
                <a:solidFill>
                  <a:srgbClr val="22302A"/>
                </a:solidFill>
                <a:latin typeface="Open Sans"/>
              </a:rPr>
              <a:t>asigna</a:t>
            </a:r>
            <a:r>
              <a:rPr sz="1850" b="0" i="0" dirty="0">
                <a:solidFill>
                  <a:srgbClr val="22302A"/>
                </a:solidFill>
                <a:latin typeface="Open Sans"/>
              </a:rPr>
              <a:t> un </a:t>
            </a:r>
            <a:r>
              <a:rPr sz="1850" b="0" i="0" dirty="0" err="1">
                <a:solidFill>
                  <a:srgbClr val="22302A"/>
                </a:solidFill>
                <a:latin typeface="Open Sans"/>
              </a:rPr>
              <a:t>nivel</a:t>
            </a:r>
            <a:r>
              <a:rPr sz="1850" b="0" i="0" dirty="0">
                <a:solidFill>
                  <a:srgbClr val="22302A"/>
                </a:solidFill>
                <a:latin typeface="Open Sans"/>
              </a:rPr>
              <a:t> de </a:t>
            </a:r>
            <a:r>
              <a:rPr sz="1850" b="0" i="0" dirty="0" err="1">
                <a:solidFill>
                  <a:srgbClr val="22302A"/>
                </a:solidFill>
                <a:latin typeface="Open Sans"/>
              </a:rPr>
              <a:t>riesgo</a:t>
            </a:r>
            <a:r>
              <a:rPr sz="1850" b="0" i="0" dirty="0">
                <a:solidFill>
                  <a:srgbClr val="22302A"/>
                </a:solidFill>
                <a:latin typeface="Open Sans"/>
              </a:rPr>
              <a:t>.</a:t>
            </a:r>
          </a:p>
          <a:p>
            <a:pPr algn="just">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Priorización</a:t>
            </a:r>
            <a:r>
              <a:rPr sz="1850" b="0" i="0" dirty="0">
                <a:solidFill>
                  <a:srgbClr val="22302A"/>
                </a:solidFill>
                <a:latin typeface="Open Sans"/>
              </a:rPr>
              <a:t> </a:t>
            </a:r>
            <a:r>
              <a:rPr sz="1850" b="0" i="0" dirty="0" err="1">
                <a:solidFill>
                  <a:srgbClr val="22302A"/>
                </a:solidFill>
                <a:latin typeface="Open Sans"/>
              </a:rPr>
              <a:t>operativa</a:t>
            </a:r>
            <a:r>
              <a:rPr sz="1850" b="0" i="0" dirty="0">
                <a:solidFill>
                  <a:srgbClr val="22302A"/>
                </a:solidFill>
                <a:latin typeface="Open Sans"/>
              </a:rPr>
              <a:t>, </a:t>
            </a:r>
            <a:r>
              <a:rPr sz="1850" b="0" i="0" dirty="0" err="1">
                <a:solidFill>
                  <a:srgbClr val="22302A"/>
                </a:solidFill>
                <a:latin typeface="Open Sans"/>
              </a:rPr>
              <a:t>transparente</a:t>
            </a:r>
            <a:r>
              <a:rPr sz="1850" b="0" i="0" dirty="0">
                <a:solidFill>
                  <a:srgbClr val="22302A"/>
                </a:solidFill>
                <a:latin typeface="Open Sans"/>
              </a:rPr>
              <a:t> y </a:t>
            </a:r>
            <a:r>
              <a:rPr sz="1850" b="0" i="0" dirty="0" err="1">
                <a:solidFill>
                  <a:srgbClr val="22302A"/>
                </a:solidFill>
                <a:latin typeface="Open Sans"/>
              </a:rPr>
              <a:t>fácil</a:t>
            </a:r>
            <a:r>
              <a:rPr sz="1850" b="0" i="0" dirty="0">
                <a:solidFill>
                  <a:srgbClr val="22302A"/>
                </a:solidFill>
                <a:latin typeface="Open Sans"/>
              </a:rPr>
              <a:t> de </a:t>
            </a:r>
            <a:r>
              <a:rPr sz="1850" b="0" i="0" dirty="0" err="1">
                <a:solidFill>
                  <a:srgbClr val="22302A"/>
                </a:solidFill>
                <a:latin typeface="Open Sans"/>
              </a:rPr>
              <a:t>entender</a:t>
            </a:r>
            <a:r>
              <a:rPr sz="1850" b="0" i="0" dirty="0">
                <a:solidFill>
                  <a:srgbClr val="22302A"/>
                </a:solidFill>
                <a:latin typeface="Open Sans"/>
              </a:rPr>
              <a:t>.</a:t>
            </a:r>
          </a:p>
        </p:txBody>
      </p:sp>
      <p:sp>
        <p:nvSpPr>
          <p:cNvPr id="9" name="Rounded Rectangle 8"/>
          <p:cNvSpPr/>
          <p:nvPr/>
        </p:nvSpPr>
        <p:spPr>
          <a:xfrm>
            <a:off x="6035040" y="3026947"/>
            <a:ext cx="1280160" cy="1005840"/>
          </a:xfrm>
          <a:prstGeom prst="round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50" b="1" i="0" dirty="0">
                <a:solidFill>
                  <a:srgbClr val="FFFFFF"/>
                </a:solidFill>
                <a:latin typeface="Montserrat"/>
              </a:rPr>
              <a:t>Datos</a:t>
            </a:r>
          </a:p>
          <a:p>
            <a:pPr algn="ctr"/>
            <a:r>
              <a:rPr sz="1350" b="1" i="0" dirty="0" err="1">
                <a:solidFill>
                  <a:srgbClr val="FFFFFF"/>
                </a:solidFill>
                <a:latin typeface="Montserrat"/>
              </a:rPr>
              <a:t>abiertos</a:t>
            </a:r>
            <a:endParaRPr sz="1350" b="1" i="0" dirty="0">
              <a:solidFill>
                <a:srgbClr val="FFFFFF"/>
              </a:solidFill>
              <a:latin typeface="Montserrat"/>
            </a:endParaRPr>
          </a:p>
        </p:txBody>
      </p:sp>
      <p:sp>
        <p:nvSpPr>
          <p:cNvPr id="10" name="Chevron 9"/>
          <p:cNvSpPr/>
          <p:nvPr/>
        </p:nvSpPr>
        <p:spPr>
          <a:xfrm>
            <a:off x="7333488" y="3438427"/>
            <a:ext cx="118872" cy="182880"/>
          </a:xfrm>
          <a:prstGeom prst="chevron">
            <a:avLst/>
          </a:prstGeom>
          <a:solidFill>
            <a:srgbClr val="123A5C"/>
          </a:solidFill>
          <a:ln>
            <a:solidFill>
              <a:srgbClr val="12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ounded Rectangle 10"/>
          <p:cNvSpPr/>
          <p:nvPr/>
        </p:nvSpPr>
        <p:spPr>
          <a:xfrm>
            <a:off x="7490068" y="3026947"/>
            <a:ext cx="1280160" cy="100584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50" b="1" i="0" dirty="0" err="1">
                <a:solidFill>
                  <a:srgbClr val="FFFFFF"/>
                </a:solidFill>
                <a:latin typeface="Montserrat"/>
              </a:rPr>
              <a:t>Integración</a:t>
            </a:r>
            <a:endParaRPr sz="1350" b="1" i="0" dirty="0">
              <a:solidFill>
                <a:srgbClr val="FFFFFF"/>
              </a:solidFill>
              <a:latin typeface="Montserrat"/>
            </a:endParaRPr>
          </a:p>
          <a:p>
            <a:pPr algn="ctr"/>
            <a:r>
              <a:rPr sz="1350" b="1" i="0" dirty="0">
                <a:solidFill>
                  <a:srgbClr val="FFFFFF"/>
                </a:solidFill>
                <a:latin typeface="Montserrat"/>
              </a:rPr>
              <a:t>municipal</a:t>
            </a:r>
          </a:p>
        </p:txBody>
      </p:sp>
      <p:sp>
        <p:nvSpPr>
          <p:cNvPr id="12" name="Chevron 11"/>
          <p:cNvSpPr/>
          <p:nvPr/>
        </p:nvSpPr>
        <p:spPr>
          <a:xfrm>
            <a:off x="8826224" y="3438427"/>
            <a:ext cx="118872" cy="182880"/>
          </a:xfrm>
          <a:prstGeom prst="chevron">
            <a:avLst/>
          </a:prstGeom>
          <a:solidFill>
            <a:srgbClr val="123A5C"/>
          </a:solidFill>
          <a:ln>
            <a:solidFill>
              <a:srgbClr val="12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82804" y="3026947"/>
            <a:ext cx="1280160" cy="1005840"/>
          </a:xfrm>
          <a:prstGeom prst="round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50" b="1" i="0">
                <a:solidFill>
                  <a:srgbClr val="FFFFFF"/>
                </a:solidFill>
                <a:latin typeface="Montserrat"/>
              </a:rPr>
              <a:t>IA +</a:t>
            </a:r>
          </a:p>
          <a:p>
            <a:pPr algn="ctr"/>
            <a:r>
              <a:rPr sz="1350" b="1" i="0">
                <a:solidFill>
                  <a:srgbClr val="FFFFFF"/>
                </a:solidFill>
                <a:latin typeface="Montserrat"/>
              </a:rPr>
              <a:t>explicación</a:t>
            </a:r>
          </a:p>
        </p:txBody>
      </p:sp>
      <p:sp>
        <p:nvSpPr>
          <p:cNvPr id="14" name="Chevron 13"/>
          <p:cNvSpPr/>
          <p:nvPr/>
        </p:nvSpPr>
        <p:spPr>
          <a:xfrm>
            <a:off x="10318960" y="3438427"/>
            <a:ext cx="118872" cy="182880"/>
          </a:xfrm>
          <a:prstGeom prst="chevron">
            <a:avLst/>
          </a:prstGeom>
          <a:solidFill>
            <a:srgbClr val="123A5C"/>
          </a:solidFill>
          <a:ln>
            <a:solidFill>
              <a:srgbClr val="12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475540" y="3026947"/>
            <a:ext cx="1280160" cy="100584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50" b="1" i="0">
                <a:solidFill>
                  <a:srgbClr val="FFFFFF"/>
                </a:solidFill>
                <a:latin typeface="Montserrat"/>
              </a:rPr>
              <a:t>App</a:t>
            </a:r>
          </a:p>
          <a:p>
            <a:pPr algn="ctr"/>
            <a:r>
              <a:rPr sz="1350" b="1" i="0">
                <a:solidFill>
                  <a:srgbClr val="FFFFFF"/>
                </a:solidFill>
                <a:latin typeface="Montserrat"/>
              </a:rPr>
              <a:t>web</a:t>
            </a:r>
          </a:p>
        </p:txBody>
      </p:sp>
      <p:sp>
        <p:nvSpPr>
          <p:cNvPr id="16" name="TextBox 15"/>
          <p:cNvSpPr txBox="1"/>
          <p:nvPr/>
        </p:nvSpPr>
        <p:spPr>
          <a:xfrm>
            <a:off x="6035040" y="4398547"/>
            <a:ext cx="5720660" cy="461665"/>
          </a:xfrm>
          <a:prstGeom prst="rect">
            <a:avLst/>
          </a:prstGeom>
          <a:noFill/>
        </p:spPr>
        <p:txBody>
          <a:bodyPr wrap="square" lIns="0" tIns="0" rIns="0" bIns="0" anchor="t">
            <a:spAutoFit/>
          </a:bodyPr>
          <a:lstStyle/>
          <a:p>
            <a:pPr algn="just"/>
            <a:r>
              <a:rPr sz="1500" b="0" i="1" dirty="0">
                <a:solidFill>
                  <a:srgbClr val="5B6B62"/>
                </a:solidFill>
                <a:latin typeface="Open Sans"/>
              </a:rPr>
              <a:t>Lo </a:t>
            </a:r>
            <a:r>
              <a:rPr sz="1500" b="0" i="1" dirty="0" err="1">
                <a:solidFill>
                  <a:srgbClr val="5B6B62"/>
                </a:solidFill>
                <a:latin typeface="Open Sans"/>
              </a:rPr>
              <a:t>más</a:t>
            </a:r>
            <a:r>
              <a:rPr sz="1500" b="0" i="1" dirty="0">
                <a:solidFill>
                  <a:srgbClr val="5B6B62"/>
                </a:solidFill>
                <a:latin typeface="Open Sans"/>
              </a:rPr>
              <a:t> </a:t>
            </a:r>
            <a:r>
              <a:rPr sz="1500" b="0" i="1" dirty="0" err="1">
                <a:solidFill>
                  <a:srgbClr val="5B6B62"/>
                </a:solidFill>
                <a:latin typeface="Open Sans"/>
              </a:rPr>
              <a:t>valioso</a:t>
            </a:r>
            <a:r>
              <a:rPr sz="1500" b="0" i="1" dirty="0">
                <a:solidFill>
                  <a:srgbClr val="5B6B62"/>
                </a:solidFill>
                <a:latin typeface="Open Sans"/>
              </a:rPr>
              <a:t>: </a:t>
            </a:r>
            <a:r>
              <a:rPr sz="1500" b="0" i="1" dirty="0" err="1">
                <a:solidFill>
                  <a:srgbClr val="5B6B62"/>
                </a:solidFill>
                <a:latin typeface="Open Sans"/>
              </a:rPr>
              <a:t>vuelve</a:t>
            </a:r>
            <a:r>
              <a:rPr sz="1500" b="0" i="1" dirty="0">
                <a:solidFill>
                  <a:srgbClr val="5B6B62"/>
                </a:solidFill>
                <a:latin typeface="Open Sans"/>
              </a:rPr>
              <a:t> OPERATIVA la </a:t>
            </a:r>
            <a:r>
              <a:rPr sz="1500" b="0" i="1" dirty="0" err="1">
                <a:solidFill>
                  <a:srgbClr val="5B6B62"/>
                </a:solidFill>
                <a:latin typeface="Open Sans"/>
              </a:rPr>
              <a:t>priorización</a:t>
            </a:r>
            <a:r>
              <a:rPr sz="1500" b="0" i="1" dirty="0">
                <a:solidFill>
                  <a:srgbClr val="5B6B62"/>
                </a:solidFill>
                <a:latin typeface="Open Sans"/>
              </a:rPr>
              <a:t> del </a:t>
            </a:r>
            <a:r>
              <a:rPr sz="1500" b="0" i="1" dirty="0" err="1">
                <a:solidFill>
                  <a:srgbClr val="5B6B62"/>
                </a:solidFill>
                <a:latin typeface="Open Sans"/>
              </a:rPr>
              <a:t>territorio</a:t>
            </a:r>
            <a:r>
              <a:rPr lang="es-MX" sz="1500" b="0" i="1" dirty="0">
                <a:solidFill>
                  <a:srgbClr val="5B6B62"/>
                </a:solidFill>
                <a:latin typeface="Open Sans"/>
              </a:rPr>
              <a:t>, </a:t>
            </a:r>
            <a:r>
              <a:rPr sz="1500" b="0" i="1" dirty="0" err="1">
                <a:solidFill>
                  <a:srgbClr val="5B6B62"/>
                </a:solidFill>
                <a:latin typeface="Open Sans"/>
              </a:rPr>
              <a:t>transparente</a:t>
            </a:r>
            <a:r>
              <a:rPr sz="1500" b="0" i="1" dirty="0">
                <a:solidFill>
                  <a:srgbClr val="5B6B62"/>
                </a:solidFill>
                <a:latin typeface="Open Sans"/>
              </a:rPr>
              <a:t> y </a:t>
            </a:r>
            <a:r>
              <a:rPr sz="1500" b="0" i="1" dirty="0" err="1">
                <a:solidFill>
                  <a:srgbClr val="5B6B62"/>
                </a:solidFill>
                <a:latin typeface="Open Sans"/>
              </a:rPr>
              <a:t>entendible</a:t>
            </a:r>
            <a:r>
              <a:rPr sz="1500" b="0" i="1" dirty="0">
                <a:solidFill>
                  <a:srgbClr val="5B6B62"/>
                </a:solidFill>
                <a:latin typeface="Open Sans"/>
              </a:rPr>
              <a:t> para </a:t>
            </a:r>
            <a:r>
              <a:rPr sz="1500" b="0" i="1" dirty="0" err="1">
                <a:solidFill>
                  <a:srgbClr val="5B6B62"/>
                </a:solidFill>
                <a:latin typeface="Open Sans"/>
              </a:rPr>
              <a:t>cualquier</a:t>
            </a:r>
            <a:r>
              <a:rPr sz="1500" b="0" i="1" dirty="0">
                <a:solidFill>
                  <a:srgbClr val="5B6B62"/>
                </a:solidFill>
                <a:latin typeface="Open Sans"/>
              </a:rPr>
              <a:t> </a:t>
            </a:r>
            <a:r>
              <a:rPr sz="1500" b="0" i="1" dirty="0" err="1">
                <a:solidFill>
                  <a:srgbClr val="5B6B62"/>
                </a:solidFill>
                <a:latin typeface="Open Sans"/>
              </a:rPr>
              <a:t>analista</a:t>
            </a:r>
            <a:r>
              <a:rPr sz="1500" b="0" i="1" dirty="0">
                <a:solidFill>
                  <a:srgbClr val="5B6B62"/>
                </a:solidFill>
                <a:latin typeface="Open Sans"/>
              </a:rPr>
              <a:t> o </a:t>
            </a:r>
            <a:r>
              <a:rPr sz="1500" b="0" i="1" dirty="0" err="1">
                <a:solidFill>
                  <a:srgbClr val="5B6B62"/>
                </a:solidFill>
                <a:latin typeface="Open Sans"/>
              </a:rPr>
              <a:t>directivo</a:t>
            </a:r>
            <a:r>
              <a:rPr sz="1500" b="0" i="1" dirty="0">
                <a:solidFill>
                  <a:srgbClr val="5B6B62"/>
                </a:solidFill>
                <a:latin typeface="Open San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4</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FUENTES</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Solo datos oficiales</a:t>
            </a:r>
          </a:p>
          <a:p>
            <a:pPr algn="l">
              <a:lnSpc>
                <a:spcPct val="104000"/>
              </a:lnSpc>
            </a:pPr>
            <a:r>
              <a:rPr sz="3300" b="1" i="0">
                <a:solidFill>
                  <a:srgbClr val="123A5C"/>
                </a:solidFill>
                <a:latin typeface="Montserrat"/>
              </a:rPr>
              <a:t>y verificables.</a:t>
            </a:r>
          </a:p>
        </p:txBody>
      </p:sp>
      <p:sp>
        <p:nvSpPr>
          <p:cNvPr id="8" name="TextBox 7"/>
          <p:cNvSpPr txBox="1"/>
          <p:nvPr/>
        </p:nvSpPr>
        <p:spPr>
          <a:xfrm>
            <a:off x="544221" y="2624328"/>
            <a:ext cx="4901183"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Agencia Nacional de </a:t>
            </a:r>
            <a:r>
              <a:rPr sz="1850" b="0" i="0" dirty="0" err="1">
                <a:solidFill>
                  <a:srgbClr val="22302A"/>
                </a:solidFill>
                <a:latin typeface="Open Sans"/>
              </a:rPr>
              <a:t>Minería</a:t>
            </a:r>
            <a:r>
              <a:rPr sz="1850" b="0" i="0" dirty="0">
                <a:solidFill>
                  <a:srgbClr val="22302A"/>
                </a:solidFill>
                <a:latin typeface="Open Sans"/>
              </a:rPr>
              <a:t>, IDEAM, DANE y </a:t>
            </a:r>
            <a:r>
              <a:rPr sz="1850" b="0" i="0" dirty="0" err="1">
                <a:solidFill>
                  <a:srgbClr val="22302A"/>
                </a:solidFill>
                <a:latin typeface="Open Sans"/>
              </a:rPr>
              <a:t>áreas</a:t>
            </a:r>
            <a:r>
              <a:rPr sz="1850" b="0" i="0" dirty="0">
                <a:solidFill>
                  <a:srgbClr val="22302A"/>
                </a:solidFill>
                <a:latin typeface="Open Sans"/>
              </a:rPr>
              <a:t> </a:t>
            </a:r>
            <a:r>
              <a:rPr sz="1850" b="0" i="0" dirty="0" err="1">
                <a:solidFill>
                  <a:srgbClr val="22302A"/>
                </a:solidFill>
                <a:latin typeface="Open Sans"/>
              </a:rPr>
              <a:t>protegidas</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Cada </a:t>
            </a:r>
            <a:r>
              <a:rPr sz="1850" b="0" i="0" dirty="0" err="1">
                <a:solidFill>
                  <a:srgbClr val="22302A"/>
                </a:solidFill>
                <a:latin typeface="Open Sans"/>
              </a:rPr>
              <a:t>dato</a:t>
            </a:r>
            <a:r>
              <a:rPr sz="1850" b="0" i="0" dirty="0">
                <a:solidFill>
                  <a:srgbClr val="22302A"/>
                </a:solidFill>
                <a:latin typeface="Open Sans"/>
              </a:rPr>
              <a:t> es auditable y </a:t>
            </a:r>
            <a:r>
              <a:rPr sz="1850" b="0" i="0" dirty="0" err="1">
                <a:solidFill>
                  <a:srgbClr val="22302A"/>
                </a:solidFill>
                <a:latin typeface="Open Sans"/>
              </a:rPr>
              <a:t>rastreable</a:t>
            </a:r>
            <a:r>
              <a:rPr sz="1850" b="0" i="0" dirty="0">
                <a:solidFill>
                  <a:srgbClr val="22302A"/>
                </a:solidFill>
                <a:latin typeface="Open Sans"/>
              </a:rPr>
              <a:t> hasta </a:t>
            </a:r>
            <a:r>
              <a:rPr sz="1850" b="0" i="0" dirty="0" err="1">
                <a:solidFill>
                  <a:srgbClr val="22302A"/>
                </a:solidFill>
                <a:latin typeface="Open Sans"/>
              </a:rPr>
              <a:t>su</a:t>
            </a:r>
            <a:r>
              <a:rPr sz="1850" b="0" i="0" dirty="0">
                <a:solidFill>
                  <a:srgbClr val="22302A"/>
                </a:solidFill>
                <a:latin typeface="Open Sans"/>
              </a:rPr>
              <a:t> </a:t>
            </a:r>
            <a:r>
              <a:rPr sz="1850" b="0" i="0" dirty="0" err="1">
                <a:solidFill>
                  <a:srgbClr val="22302A"/>
                </a:solidFill>
                <a:latin typeface="Open Sans"/>
              </a:rPr>
              <a:t>origen</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Sin </a:t>
            </a:r>
            <a:r>
              <a:rPr sz="1850" b="0" i="0" dirty="0" err="1">
                <a:solidFill>
                  <a:srgbClr val="22302A"/>
                </a:solidFill>
                <a:latin typeface="Open Sans"/>
              </a:rPr>
              <a:t>estimaciones</a:t>
            </a:r>
            <a:r>
              <a:rPr sz="1850" b="0" i="0" dirty="0">
                <a:solidFill>
                  <a:srgbClr val="22302A"/>
                </a:solidFill>
                <a:latin typeface="Open Sans"/>
              </a:rPr>
              <a:t> sin </a:t>
            </a:r>
            <a:r>
              <a:rPr sz="1850" b="0" i="0" dirty="0" err="1">
                <a:solidFill>
                  <a:srgbClr val="22302A"/>
                </a:solidFill>
                <a:latin typeface="Open Sans"/>
              </a:rPr>
              <a:t>fundamento</a:t>
            </a:r>
            <a:r>
              <a:rPr sz="1850" b="0" i="0" dirty="0">
                <a:solidFill>
                  <a:srgbClr val="22302A"/>
                </a:solidFill>
                <a:latin typeface="Open Sans"/>
              </a:rPr>
              <a:t> </a:t>
            </a:r>
            <a:r>
              <a:rPr sz="1850" b="0" i="0" dirty="0" err="1">
                <a:solidFill>
                  <a:srgbClr val="22302A"/>
                </a:solidFill>
                <a:latin typeface="Open Sans"/>
              </a:rPr>
              <a:t>ni</a:t>
            </a:r>
            <a:r>
              <a:rPr sz="1850" b="0" i="0" dirty="0">
                <a:solidFill>
                  <a:srgbClr val="22302A"/>
                </a:solidFill>
                <a:latin typeface="Open Sans"/>
              </a:rPr>
              <a:t> </a:t>
            </a:r>
            <a:r>
              <a:rPr sz="1850" b="0" i="0" dirty="0" err="1">
                <a:solidFill>
                  <a:srgbClr val="22302A"/>
                </a:solidFill>
                <a:latin typeface="Open Sans"/>
              </a:rPr>
              <a:t>cifras</a:t>
            </a:r>
            <a:r>
              <a:rPr sz="1850" b="0" i="0" dirty="0">
                <a:solidFill>
                  <a:srgbClr val="22302A"/>
                </a:solidFill>
                <a:latin typeface="Open Sans"/>
              </a:rPr>
              <a:t> </a:t>
            </a:r>
            <a:r>
              <a:rPr sz="1850" b="0" i="0" dirty="0" err="1">
                <a:solidFill>
                  <a:srgbClr val="22302A"/>
                </a:solidFill>
                <a:latin typeface="Open Sans"/>
              </a:rPr>
              <a:t>inventadas</a:t>
            </a:r>
            <a:r>
              <a:rPr sz="1850" b="0" i="0" dirty="0">
                <a:solidFill>
                  <a:srgbClr val="22302A"/>
                </a:solidFill>
                <a:latin typeface="Open Sans"/>
              </a:rPr>
              <a:t>.</a:t>
            </a:r>
          </a:p>
        </p:txBody>
      </p:sp>
      <p:sp>
        <p:nvSpPr>
          <p:cNvPr id="9" name="Rounded Rectangle 8"/>
          <p:cNvSpPr/>
          <p:nvPr/>
        </p:nvSpPr>
        <p:spPr>
          <a:xfrm>
            <a:off x="5989320" y="2011680"/>
            <a:ext cx="5577840" cy="45720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00" b="1" i="0" dirty="0">
                <a:solidFill>
                  <a:srgbClr val="FFFFFF"/>
                </a:solidFill>
                <a:latin typeface="Montserrat"/>
              </a:rPr>
              <a:t>7 FUENTES OFICIALES INTEGRADAS</a:t>
            </a:r>
          </a:p>
        </p:txBody>
      </p:sp>
      <p:sp>
        <p:nvSpPr>
          <p:cNvPr id="10" name="Rounded Rectangle 9"/>
          <p:cNvSpPr/>
          <p:nvPr/>
        </p:nvSpPr>
        <p:spPr>
          <a:xfrm>
            <a:off x="5989320" y="2578608"/>
            <a:ext cx="5577840" cy="475488"/>
          </a:xfrm>
          <a:prstGeom prst="roundRect">
            <a:avLst/>
          </a:prstGeom>
          <a:solidFill>
            <a:srgbClr val="FFFFFF"/>
          </a:solidFill>
          <a:ln w="9525">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624328"/>
            <a:ext cx="3383280" cy="429768"/>
          </a:xfrm>
          <a:prstGeom prst="rect">
            <a:avLst/>
          </a:prstGeom>
          <a:noFill/>
        </p:spPr>
        <p:txBody>
          <a:bodyPr wrap="square" lIns="0" tIns="0" rIns="0" bIns="0" anchor="ctr">
            <a:spAutoFit/>
          </a:bodyPr>
          <a:lstStyle/>
          <a:p>
            <a:r>
              <a:rPr sz="1400" b="1" i="0" dirty="0" err="1">
                <a:solidFill>
                  <a:srgbClr val="22302A"/>
                </a:solidFill>
                <a:latin typeface="Open Sans"/>
              </a:rPr>
              <a:t>Minería</a:t>
            </a:r>
            <a:r>
              <a:rPr sz="1400" b="1" i="0" dirty="0">
                <a:solidFill>
                  <a:srgbClr val="22302A"/>
                </a:solidFill>
                <a:latin typeface="Open Sans"/>
              </a:rPr>
              <a:t> (</a:t>
            </a:r>
            <a:r>
              <a:rPr sz="1400" b="1" i="0" dirty="0" err="1">
                <a:solidFill>
                  <a:srgbClr val="22302A"/>
                </a:solidFill>
                <a:latin typeface="Open Sans"/>
              </a:rPr>
              <a:t>títulos</a:t>
            </a:r>
            <a:r>
              <a:rPr sz="1400" b="1" i="0" dirty="0">
                <a:solidFill>
                  <a:srgbClr val="22302A"/>
                </a:solidFill>
                <a:latin typeface="Open Sans"/>
              </a:rPr>
              <a:t> y </a:t>
            </a:r>
            <a:r>
              <a:rPr sz="1400" b="1" i="0" dirty="0" err="1">
                <a:solidFill>
                  <a:srgbClr val="22302A"/>
                </a:solidFill>
                <a:latin typeface="Open Sans"/>
              </a:rPr>
              <a:t>volumen</a:t>
            </a:r>
            <a:r>
              <a:rPr sz="1400" b="1" i="0" dirty="0">
                <a:solidFill>
                  <a:srgbClr val="22302A"/>
                </a:solidFill>
                <a:latin typeface="Open Sans"/>
              </a:rPr>
              <a:t>)</a:t>
            </a:r>
          </a:p>
        </p:txBody>
      </p:sp>
      <p:sp>
        <p:nvSpPr>
          <p:cNvPr id="12" name="TextBox 11"/>
          <p:cNvSpPr txBox="1"/>
          <p:nvPr/>
        </p:nvSpPr>
        <p:spPr>
          <a:xfrm>
            <a:off x="9646920" y="2624328"/>
            <a:ext cx="1828800" cy="429768"/>
          </a:xfrm>
          <a:prstGeom prst="rect">
            <a:avLst/>
          </a:prstGeom>
          <a:noFill/>
        </p:spPr>
        <p:txBody>
          <a:bodyPr wrap="square" lIns="0" tIns="0" rIns="0" bIns="0" anchor="ctr">
            <a:spAutoFit/>
          </a:bodyPr>
          <a:lstStyle/>
          <a:p>
            <a:r>
              <a:rPr sz="1250" b="0" i="0">
                <a:solidFill>
                  <a:srgbClr val="1B7A46"/>
                </a:solidFill>
                <a:latin typeface="Open Sans"/>
              </a:rPr>
              <a:t>ANM · datos.gov.co</a:t>
            </a:r>
          </a:p>
        </p:txBody>
      </p:sp>
      <p:sp>
        <p:nvSpPr>
          <p:cNvPr id="13" name="Rounded Rectangle 12"/>
          <p:cNvSpPr/>
          <p:nvPr/>
        </p:nvSpPr>
        <p:spPr>
          <a:xfrm>
            <a:off x="5989320" y="3145536"/>
            <a:ext cx="5577840" cy="475488"/>
          </a:xfrm>
          <a:prstGeom prst="roundRect">
            <a:avLst/>
          </a:prstGeom>
          <a:solidFill>
            <a:srgbClr val="EAF3EE"/>
          </a:solidFill>
          <a:ln w="9525">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3191256"/>
            <a:ext cx="3383280" cy="429768"/>
          </a:xfrm>
          <a:prstGeom prst="rect">
            <a:avLst/>
          </a:prstGeom>
          <a:noFill/>
        </p:spPr>
        <p:txBody>
          <a:bodyPr wrap="square" lIns="0" tIns="0" rIns="0" bIns="0" anchor="ctr">
            <a:spAutoFit/>
          </a:bodyPr>
          <a:lstStyle/>
          <a:p>
            <a:r>
              <a:rPr sz="1400" b="1" i="0">
                <a:solidFill>
                  <a:srgbClr val="22302A"/>
                </a:solidFill>
                <a:latin typeface="Open Sans"/>
              </a:rPr>
              <a:t>Deforestación</a:t>
            </a:r>
          </a:p>
        </p:txBody>
      </p:sp>
      <p:sp>
        <p:nvSpPr>
          <p:cNvPr id="15" name="TextBox 14"/>
          <p:cNvSpPr txBox="1"/>
          <p:nvPr/>
        </p:nvSpPr>
        <p:spPr>
          <a:xfrm>
            <a:off x="9646920" y="3191256"/>
            <a:ext cx="1828800" cy="429768"/>
          </a:xfrm>
          <a:prstGeom prst="rect">
            <a:avLst/>
          </a:prstGeom>
          <a:noFill/>
        </p:spPr>
        <p:txBody>
          <a:bodyPr wrap="square" lIns="0" tIns="0" rIns="0" bIns="0" anchor="ctr">
            <a:spAutoFit/>
          </a:bodyPr>
          <a:lstStyle/>
          <a:p>
            <a:r>
              <a:rPr sz="1250" b="0" i="0">
                <a:solidFill>
                  <a:srgbClr val="1B7A46"/>
                </a:solidFill>
                <a:latin typeface="Open Sans"/>
              </a:rPr>
              <a:t>IDEAM / SMByC</a:t>
            </a:r>
          </a:p>
        </p:txBody>
      </p:sp>
      <p:sp>
        <p:nvSpPr>
          <p:cNvPr id="16" name="Rounded Rectangle 15"/>
          <p:cNvSpPr/>
          <p:nvPr/>
        </p:nvSpPr>
        <p:spPr>
          <a:xfrm>
            <a:off x="5989320" y="3712464"/>
            <a:ext cx="5577840" cy="475488"/>
          </a:xfrm>
          <a:prstGeom prst="roundRect">
            <a:avLst/>
          </a:prstGeom>
          <a:solidFill>
            <a:srgbClr val="FFFFFF"/>
          </a:solidFill>
          <a:ln w="9525">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3758183"/>
            <a:ext cx="3383280" cy="429768"/>
          </a:xfrm>
          <a:prstGeom prst="rect">
            <a:avLst/>
          </a:prstGeom>
          <a:noFill/>
        </p:spPr>
        <p:txBody>
          <a:bodyPr wrap="square" lIns="0" tIns="0" rIns="0" bIns="0" anchor="ctr">
            <a:spAutoFit/>
          </a:bodyPr>
          <a:lstStyle/>
          <a:p>
            <a:r>
              <a:rPr sz="1400" b="1" i="0">
                <a:solidFill>
                  <a:srgbClr val="22302A"/>
                </a:solidFill>
                <a:latin typeface="Open Sans"/>
              </a:rPr>
              <a:t>Calidad del agua (ICA)</a:t>
            </a:r>
          </a:p>
        </p:txBody>
      </p:sp>
      <p:sp>
        <p:nvSpPr>
          <p:cNvPr id="18" name="TextBox 17"/>
          <p:cNvSpPr txBox="1"/>
          <p:nvPr/>
        </p:nvSpPr>
        <p:spPr>
          <a:xfrm>
            <a:off x="9646920" y="3758183"/>
            <a:ext cx="1828800" cy="429768"/>
          </a:xfrm>
          <a:prstGeom prst="rect">
            <a:avLst/>
          </a:prstGeom>
          <a:noFill/>
        </p:spPr>
        <p:txBody>
          <a:bodyPr wrap="square" lIns="0" tIns="0" rIns="0" bIns="0" anchor="ctr">
            <a:spAutoFit/>
          </a:bodyPr>
          <a:lstStyle/>
          <a:p>
            <a:r>
              <a:rPr sz="1250" b="0" i="0">
                <a:solidFill>
                  <a:srgbClr val="1B7A46"/>
                </a:solidFill>
                <a:latin typeface="Open Sans"/>
              </a:rPr>
              <a:t>IDEAM DHIME</a:t>
            </a:r>
          </a:p>
        </p:txBody>
      </p:sp>
      <p:sp>
        <p:nvSpPr>
          <p:cNvPr id="19" name="Rounded Rectangle 18"/>
          <p:cNvSpPr/>
          <p:nvPr/>
        </p:nvSpPr>
        <p:spPr>
          <a:xfrm>
            <a:off x="5989320" y="4279392"/>
            <a:ext cx="5577840" cy="475488"/>
          </a:xfrm>
          <a:prstGeom prst="roundRect">
            <a:avLst/>
          </a:prstGeom>
          <a:solidFill>
            <a:srgbClr val="EAF3EE"/>
          </a:solidFill>
          <a:ln w="9525">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0" y="4325111"/>
            <a:ext cx="3383280" cy="429768"/>
          </a:xfrm>
          <a:prstGeom prst="rect">
            <a:avLst/>
          </a:prstGeom>
          <a:noFill/>
        </p:spPr>
        <p:txBody>
          <a:bodyPr wrap="square" lIns="0" tIns="0" rIns="0" bIns="0" anchor="ctr">
            <a:spAutoFit/>
          </a:bodyPr>
          <a:lstStyle/>
          <a:p>
            <a:r>
              <a:rPr sz="1400" b="1" i="0">
                <a:solidFill>
                  <a:srgbClr val="22302A"/>
                </a:solidFill>
                <a:latin typeface="Open Sans"/>
              </a:rPr>
              <a:t>Áreas protegidas</a:t>
            </a:r>
          </a:p>
        </p:txBody>
      </p:sp>
      <p:sp>
        <p:nvSpPr>
          <p:cNvPr id="21" name="TextBox 20"/>
          <p:cNvSpPr txBox="1"/>
          <p:nvPr/>
        </p:nvSpPr>
        <p:spPr>
          <a:xfrm>
            <a:off x="9646920" y="4325111"/>
            <a:ext cx="1828800" cy="429768"/>
          </a:xfrm>
          <a:prstGeom prst="rect">
            <a:avLst/>
          </a:prstGeom>
          <a:noFill/>
        </p:spPr>
        <p:txBody>
          <a:bodyPr wrap="square" lIns="0" tIns="0" rIns="0" bIns="0" anchor="ctr">
            <a:spAutoFit/>
          </a:bodyPr>
          <a:lstStyle/>
          <a:p>
            <a:r>
              <a:rPr sz="1250" b="0" i="0">
                <a:solidFill>
                  <a:srgbClr val="1B7A46"/>
                </a:solidFill>
                <a:latin typeface="Open Sans"/>
              </a:rPr>
              <a:t>RUNAP</a:t>
            </a:r>
          </a:p>
        </p:txBody>
      </p:sp>
      <p:sp>
        <p:nvSpPr>
          <p:cNvPr id="22" name="Rounded Rectangle 21"/>
          <p:cNvSpPr/>
          <p:nvPr/>
        </p:nvSpPr>
        <p:spPr>
          <a:xfrm>
            <a:off x="5989320" y="4846320"/>
            <a:ext cx="5577840" cy="475488"/>
          </a:xfrm>
          <a:prstGeom prst="roundRect">
            <a:avLst/>
          </a:prstGeom>
          <a:solidFill>
            <a:srgbClr val="FFFFFF"/>
          </a:solidFill>
          <a:ln w="9525">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0" y="4892040"/>
            <a:ext cx="3383280" cy="429768"/>
          </a:xfrm>
          <a:prstGeom prst="rect">
            <a:avLst/>
          </a:prstGeom>
          <a:noFill/>
        </p:spPr>
        <p:txBody>
          <a:bodyPr wrap="square" lIns="0" tIns="0" rIns="0" bIns="0" anchor="ctr">
            <a:spAutoFit/>
          </a:bodyPr>
          <a:lstStyle/>
          <a:p>
            <a:r>
              <a:rPr sz="1400" b="1" i="0">
                <a:solidFill>
                  <a:srgbClr val="22302A"/>
                </a:solidFill>
                <a:latin typeface="Open Sans"/>
              </a:rPr>
              <a:t>Base municipal</a:t>
            </a:r>
          </a:p>
        </p:txBody>
      </p:sp>
      <p:sp>
        <p:nvSpPr>
          <p:cNvPr id="24" name="TextBox 23"/>
          <p:cNvSpPr txBox="1"/>
          <p:nvPr/>
        </p:nvSpPr>
        <p:spPr>
          <a:xfrm>
            <a:off x="9646920" y="4892040"/>
            <a:ext cx="1828800" cy="429768"/>
          </a:xfrm>
          <a:prstGeom prst="rect">
            <a:avLst/>
          </a:prstGeom>
          <a:noFill/>
        </p:spPr>
        <p:txBody>
          <a:bodyPr wrap="square" lIns="0" tIns="0" rIns="0" bIns="0" anchor="ctr">
            <a:spAutoFit/>
          </a:bodyPr>
          <a:lstStyle/>
          <a:p>
            <a:r>
              <a:rPr sz="1250" b="0" i="0">
                <a:solidFill>
                  <a:srgbClr val="1B7A46"/>
                </a:solidFill>
                <a:latin typeface="Open Sans"/>
              </a:rPr>
              <a:t>DANE DIVIPOLA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5270AFD-0305-03C4-E8C5-A2F7383B71CF}"/>
              </a:ext>
            </a:extLst>
          </p:cNvPr>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5</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MÉTODO</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Comparar peras con peras:</a:t>
            </a:r>
          </a:p>
          <a:p>
            <a:pPr algn="l">
              <a:lnSpc>
                <a:spcPct val="104000"/>
              </a:lnSpc>
            </a:pPr>
            <a:r>
              <a:rPr sz="3300" b="1" i="0">
                <a:solidFill>
                  <a:srgbClr val="123A5C"/>
                </a:solidFill>
                <a:latin typeface="Montserrat"/>
              </a:rPr>
              <a:t>el municipio.</a:t>
            </a:r>
          </a:p>
        </p:txBody>
      </p:sp>
      <p:sp>
        <p:nvSpPr>
          <p:cNvPr id="8" name="TextBox 7"/>
          <p:cNvSpPr txBox="1"/>
          <p:nvPr/>
        </p:nvSpPr>
        <p:spPr>
          <a:xfrm>
            <a:off x="685800" y="2360472"/>
            <a:ext cx="5094811"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Todo </a:t>
            </a:r>
            <a:r>
              <a:rPr sz="1850" b="0" i="0" dirty="0" err="1">
                <a:solidFill>
                  <a:srgbClr val="22302A"/>
                </a:solidFill>
                <a:latin typeface="Open Sans"/>
              </a:rPr>
              <a:t>estandarizado</a:t>
            </a:r>
            <a:r>
              <a:rPr sz="1850" b="0" i="0" dirty="0">
                <a:solidFill>
                  <a:srgbClr val="22302A"/>
                </a:solidFill>
                <a:latin typeface="Open Sans"/>
              </a:rPr>
              <a:t> a </a:t>
            </a:r>
            <a:r>
              <a:rPr sz="1850" b="0" i="0" dirty="0" err="1">
                <a:solidFill>
                  <a:srgbClr val="22302A"/>
                </a:solidFill>
                <a:latin typeface="Open Sans"/>
              </a:rPr>
              <a:t>los</a:t>
            </a:r>
            <a:r>
              <a:rPr sz="1850" b="0" i="0" dirty="0">
                <a:solidFill>
                  <a:srgbClr val="22302A"/>
                </a:solidFill>
                <a:latin typeface="Open Sans"/>
              </a:rPr>
              <a:t> 1.122 municipios del </a:t>
            </a:r>
            <a:r>
              <a:rPr sz="1850" b="0" i="0" dirty="0" err="1">
                <a:solidFill>
                  <a:srgbClr val="22302A"/>
                </a:solidFill>
                <a:latin typeface="Open Sans"/>
              </a:rPr>
              <a:t>país</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Los </a:t>
            </a:r>
            <a:r>
              <a:rPr sz="1850" b="0" i="0" dirty="0" err="1">
                <a:solidFill>
                  <a:srgbClr val="22302A"/>
                </a:solidFill>
                <a:latin typeface="Open Sans"/>
              </a:rPr>
              <a:t>datos</a:t>
            </a:r>
            <a:r>
              <a:rPr sz="1850" b="0" i="0" dirty="0">
                <a:solidFill>
                  <a:srgbClr val="22302A"/>
                </a:solidFill>
                <a:latin typeface="Open Sans"/>
              </a:rPr>
              <a:t> se </a:t>
            </a:r>
            <a:r>
              <a:rPr sz="1850" b="0" i="0" dirty="0" err="1">
                <a:solidFill>
                  <a:srgbClr val="22302A"/>
                </a:solidFill>
                <a:latin typeface="Open Sans"/>
              </a:rPr>
              <a:t>cruzan</a:t>
            </a:r>
            <a:r>
              <a:rPr sz="1850" b="0" i="0" dirty="0">
                <a:solidFill>
                  <a:srgbClr val="22302A"/>
                </a:solidFill>
                <a:latin typeface="Open Sans"/>
              </a:rPr>
              <a:t> </a:t>
            </a:r>
            <a:r>
              <a:rPr sz="1850" b="0" i="0" dirty="0" err="1">
                <a:solidFill>
                  <a:srgbClr val="22302A"/>
                </a:solidFill>
                <a:latin typeface="Open Sans"/>
              </a:rPr>
              <a:t>por</a:t>
            </a:r>
            <a:r>
              <a:rPr sz="1850" b="0" i="0" dirty="0">
                <a:solidFill>
                  <a:srgbClr val="22302A"/>
                </a:solidFill>
                <a:latin typeface="Open Sans"/>
              </a:rPr>
              <a:t> las </a:t>
            </a:r>
            <a:r>
              <a:rPr sz="1850" b="0" i="0" dirty="0" err="1">
                <a:solidFill>
                  <a:srgbClr val="22302A"/>
                </a:solidFill>
                <a:latin typeface="Open Sans"/>
              </a:rPr>
              <a:t>coordenadas</a:t>
            </a:r>
            <a:r>
              <a:rPr sz="1850" b="0" i="0" dirty="0">
                <a:solidFill>
                  <a:srgbClr val="22302A"/>
                </a:solidFill>
                <a:latin typeface="Open Sans"/>
              </a:rPr>
              <a:t> de </a:t>
            </a:r>
            <a:r>
              <a:rPr sz="1850" b="0" i="0" dirty="0" err="1">
                <a:solidFill>
                  <a:srgbClr val="22302A"/>
                </a:solidFill>
                <a:latin typeface="Open Sans"/>
              </a:rPr>
              <a:t>cada</a:t>
            </a:r>
            <a:r>
              <a:rPr sz="1850" b="0" i="0" dirty="0">
                <a:solidFill>
                  <a:srgbClr val="22302A"/>
                </a:solidFill>
                <a:latin typeface="Open Sans"/>
              </a:rPr>
              <a:t> </a:t>
            </a:r>
            <a:r>
              <a:rPr sz="1850" b="0" i="0" dirty="0" err="1">
                <a:solidFill>
                  <a:srgbClr val="22302A"/>
                </a:solidFill>
                <a:latin typeface="Open Sans"/>
              </a:rPr>
              <a:t>lugar</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Si </a:t>
            </a:r>
            <a:r>
              <a:rPr sz="1850" b="0" i="0" dirty="0" err="1">
                <a:solidFill>
                  <a:srgbClr val="22302A"/>
                </a:solidFill>
                <a:latin typeface="Open Sans"/>
              </a:rPr>
              <a:t>falta</a:t>
            </a:r>
            <a:r>
              <a:rPr sz="1850" b="0" i="0" dirty="0">
                <a:solidFill>
                  <a:srgbClr val="22302A"/>
                </a:solidFill>
                <a:latin typeface="Open Sans"/>
              </a:rPr>
              <a:t> un </a:t>
            </a:r>
            <a:r>
              <a:rPr sz="1850" b="0" i="0" dirty="0" err="1">
                <a:solidFill>
                  <a:srgbClr val="22302A"/>
                </a:solidFill>
                <a:latin typeface="Open Sans"/>
              </a:rPr>
              <a:t>dato</a:t>
            </a:r>
            <a:r>
              <a:rPr sz="1850" b="0" i="0" dirty="0">
                <a:solidFill>
                  <a:srgbClr val="22302A"/>
                </a:solidFill>
                <a:latin typeface="Open Sans"/>
              </a:rPr>
              <a:t>, se </a:t>
            </a:r>
            <a:r>
              <a:rPr sz="1850" b="0" i="0" dirty="0" err="1">
                <a:solidFill>
                  <a:srgbClr val="22302A"/>
                </a:solidFill>
                <a:latin typeface="Open Sans"/>
              </a:rPr>
              <a:t>marca</a:t>
            </a:r>
            <a:r>
              <a:rPr sz="1850" b="0" i="0" dirty="0">
                <a:solidFill>
                  <a:srgbClr val="22302A"/>
                </a:solidFill>
                <a:latin typeface="Open Sans"/>
              </a:rPr>
              <a:t> </a:t>
            </a:r>
            <a:r>
              <a:rPr sz="1850" b="0" i="0" dirty="0" err="1">
                <a:solidFill>
                  <a:srgbClr val="22302A"/>
                </a:solidFill>
                <a:latin typeface="Open Sans"/>
              </a:rPr>
              <a:t>como</a:t>
            </a:r>
            <a:r>
              <a:rPr sz="1850" b="0" i="0" dirty="0">
                <a:solidFill>
                  <a:srgbClr val="22302A"/>
                </a:solidFill>
                <a:latin typeface="Open Sans"/>
              </a:rPr>
              <a:t> </a:t>
            </a:r>
            <a:r>
              <a:rPr sz="1850" b="0" i="0" dirty="0" err="1">
                <a:solidFill>
                  <a:srgbClr val="22302A"/>
                </a:solidFill>
                <a:latin typeface="Open Sans"/>
              </a:rPr>
              <a:t>ausencia</a:t>
            </a:r>
            <a:r>
              <a:rPr sz="1850" b="0" i="0" dirty="0">
                <a:solidFill>
                  <a:srgbClr val="22302A"/>
                </a:solidFill>
                <a:latin typeface="Open Sans"/>
              </a:rPr>
              <a:t>. No se </a:t>
            </a:r>
            <a:r>
              <a:rPr sz="1850" b="0" i="0" dirty="0" err="1">
                <a:solidFill>
                  <a:srgbClr val="22302A"/>
                </a:solidFill>
                <a:latin typeface="Open Sans"/>
              </a:rPr>
              <a:t>inventa</a:t>
            </a:r>
            <a:r>
              <a:rPr sz="1850" b="0" i="0" dirty="0">
                <a:solidFill>
                  <a:srgbClr val="22302A"/>
                </a:solidFill>
                <a:latin typeface="Open Sans"/>
              </a:rPr>
              <a:t>.</a:t>
            </a:r>
          </a:p>
        </p:txBody>
      </p:sp>
      <p:sp>
        <p:nvSpPr>
          <p:cNvPr id="9" name="TextBox 8"/>
          <p:cNvSpPr txBox="1"/>
          <p:nvPr/>
        </p:nvSpPr>
        <p:spPr>
          <a:xfrm>
            <a:off x="656845" y="4943473"/>
            <a:ext cx="4572000" cy="895117"/>
          </a:xfrm>
          <a:prstGeom prst="rect">
            <a:avLst/>
          </a:prstGeom>
          <a:noFill/>
        </p:spPr>
        <p:txBody>
          <a:bodyPr wrap="square" lIns="0" tIns="0" rIns="0" bIns="0" anchor="t">
            <a:spAutoFit/>
          </a:bodyPr>
          <a:lstStyle/>
          <a:p>
            <a:pPr algn="ctr"/>
            <a:r>
              <a:rPr sz="4400" b="1" i="0" dirty="0">
                <a:solidFill>
                  <a:srgbClr val="123A5C"/>
                </a:solidFill>
                <a:latin typeface="Montserrat"/>
              </a:rPr>
              <a:t>1.122</a:t>
            </a:r>
          </a:p>
          <a:p>
            <a:pPr algn="ctr">
              <a:spcBef>
                <a:spcPts val="200"/>
              </a:spcBef>
            </a:pPr>
            <a:r>
              <a:rPr sz="1250" b="0" i="0" dirty="0">
                <a:solidFill>
                  <a:srgbClr val="5B6B62"/>
                </a:solidFill>
                <a:latin typeface="Open Sans"/>
              </a:rPr>
              <a:t>municipios </a:t>
            </a:r>
            <a:r>
              <a:rPr sz="1250" b="0" i="0" dirty="0" err="1">
                <a:solidFill>
                  <a:srgbClr val="5B6B62"/>
                </a:solidFill>
                <a:latin typeface="Open Sans"/>
              </a:rPr>
              <a:t>como</a:t>
            </a:r>
            <a:r>
              <a:rPr sz="1250" b="0" i="0" dirty="0">
                <a:solidFill>
                  <a:srgbClr val="5B6B62"/>
                </a:solidFill>
                <a:latin typeface="Open Sans"/>
              </a:rPr>
              <a:t> </a:t>
            </a:r>
            <a:r>
              <a:rPr sz="1250" b="0" i="0" dirty="0" err="1">
                <a:solidFill>
                  <a:srgbClr val="5B6B62"/>
                </a:solidFill>
                <a:latin typeface="Open Sans"/>
              </a:rPr>
              <a:t>unidad</a:t>
            </a:r>
            <a:r>
              <a:rPr sz="1250" b="0" i="0" dirty="0">
                <a:solidFill>
                  <a:srgbClr val="5B6B62"/>
                </a:solidFill>
                <a:latin typeface="Open Sans"/>
              </a:rPr>
              <a:t> </a:t>
            </a:r>
            <a:r>
              <a:rPr sz="1250" b="0" i="0" dirty="0" err="1">
                <a:solidFill>
                  <a:srgbClr val="5B6B62"/>
                </a:solidFill>
                <a:latin typeface="Open Sans"/>
              </a:rPr>
              <a:t>común</a:t>
            </a:r>
            <a:endParaRPr sz="1250" b="0" i="0" dirty="0">
              <a:solidFill>
                <a:srgbClr val="5B6B62"/>
              </a:solidFill>
              <a:latin typeface="Open Sans"/>
            </a:endParaRPr>
          </a:p>
        </p:txBody>
      </p:sp>
      <p:sp>
        <p:nvSpPr>
          <p:cNvPr id="10" name="Oval 9"/>
          <p:cNvSpPr/>
          <p:nvPr/>
        </p:nvSpPr>
        <p:spPr>
          <a:xfrm>
            <a:off x="6842761" y="2309505"/>
            <a:ext cx="566928" cy="566928"/>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42761" y="2364369"/>
            <a:ext cx="566928" cy="457200"/>
          </a:xfrm>
          <a:prstGeom prst="rect">
            <a:avLst/>
          </a:prstGeom>
          <a:noFill/>
        </p:spPr>
        <p:txBody>
          <a:bodyPr wrap="square" lIns="0" tIns="0" rIns="0" bIns="0" anchor="ctr">
            <a:spAutoFit/>
          </a:bodyPr>
          <a:lstStyle/>
          <a:p>
            <a:pPr algn="ctr"/>
            <a:r>
              <a:rPr sz="2000" b="1" i="0">
                <a:solidFill>
                  <a:srgbClr val="FFFFFF"/>
                </a:solidFill>
                <a:latin typeface="Montserrat"/>
              </a:rPr>
              <a:t>1</a:t>
            </a:r>
          </a:p>
        </p:txBody>
      </p:sp>
      <p:sp>
        <p:nvSpPr>
          <p:cNvPr id="12" name="TextBox 11"/>
          <p:cNvSpPr txBox="1"/>
          <p:nvPr/>
        </p:nvSpPr>
        <p:spPr>
          <a:xfrm>
            <a:off x="7620000" y="2309505"/>
            <a:ext cx="4572000" cy="822960"/>
          </a:xfrm>
          <a:prstGeom prst="rect">
            <a:avLst/>
          </a:prstGeom>
          <a:noFill/>
        </p:spPr>
        <p:txBody>
          <a:bodyPr wrap="square" lIns="0" tIns="0" rIns="0" bIns="0" anchor="ctr">
            <a:spAutoFit/>
          </a:bodyPr>
          <a:lstStyle/>
          <a:p>
            <a:r>
              <a:rPr sz="1600" b="1" i="0" dirty="0">
                <a:solidFill>
                  <a:srgbClr val="22302A"/>
                </a:solidFill>
                <a:latin typeface="Open Sans"/>
              </a:rPr>
              <a:t>Base municipal  DIVIPOLA</a:t>
            </a:r>
          </a:p>
        </p:txBody>
      </p:sp>
      <p:sp>
        <p:nvSpPr>
          <p:cNvPr id="13" name="Oval 12"/>
          <p:cNvSpPr/>
          <p:nvPr/>
        </p:nvSpPr>
        <p:spPr>
          <a:xfrm>
            <a:off x="6842761" y="3242193"/>
            <a:ext cx="566928" cy="566928"/>
          </a:xfrm>
          <a:prstGeom prst="ellipse">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42761" y="3297057"/>
            <a:ext cx="566928" cy="457200"/>
          </a:xfrm>
          <a:prstGeom prst="rect">
            <a:avLst/>
          </a:prstGeom>
          <a:noFill/>
        </p:spPr>
        <p:txBody>
          <a:bodyPr wrap="square" lIns="0" tIns="0" rIns="0" bIns="0" anchor="ctr">
            <a:spAutoFit/>
          </a:bodyPr>
          <a:lstStyle/>
          <a:p>
            <a:pPr algn="ctr"/>
            <a:r>
              <a:rPr sz="2000" b="1" i="0">
                <a:solidFill>
                  <a:srgbClr val="FFFFFF"/>
                </a:solidFill>
                <a:latin typeface="Montserrat"/>
              </a:rPr>
              <a:t>2</a:t>
            </a:r>
          </a:p>
        </p:txBody>
      </p:sp>
      <p:sp>
        <p:nvSpPr>
          <p:cNvPr id="15" name="TextBox 14"/>
          <p:cNvSpPr txBox="1"/>
          <p:nvPr/>
        </p:nvSpPr>
        <p:spPr>
          <a:xfrm>
            <a:off x="7620000" y="3242193"/>
            <a:ext cx="4572000" cy="822960"/>
          </a:xfrm>
          <a:prstGeom prst="rect">
            <a:avLst/>
          </a:prstGeom>
          <a:noFill/>
        </p:spPr>
        <p:txBody>
          <a:bodyPr wrap="square" lIns="0" tIns="0" rIns="0" bIns="0" anchor="ctr">
            <a:spAutoFit/>
          </a:bodyPr>
          <a:lstStyle/>
          <a:p>
            <a:r>
              <a:rPr sz="1600" b="1" i="0">
                <a:solidFill>
                  <a:srgbClr val="22302A"/>
                </a:solidFill>
                <a:latin typeface="Open Sans"/>
              </a:rPr>
              <a:t>Cruces por  coordenada</a:t>
            </a:r>
          </a:p>
        </p:txBody>
      </p:sp>
      <p:sp>
        <p:nvSpPr>
          <p:cNvPr id="16" name="Oval 15"/>
          <p:cNvSpPr/>
          <p:nvPr/>
        </p:nvSpPr>
        <p:spPr>
          <a:xfrm>
            <a:off x="6842761" y="4174881"/>
            <a:ext cx="566928" cy="566928"/>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42761" y="4229745"/>
            <a:ext cx="566928" cy="457200"/>
          </a:xfrm>
          <a:prstGeom prst="rect">
            <a:avLst/>
          </a:prstGeom>
          <a:noFill/>
        </p:spPr>
        <p:txBody>
          <a:bodyPr wrap="square" lIns="0" tIns="0" rIns="0" bIns="0" anchor="ctr">
            <a:spAutoFit/>
          </a:bodyPr>
          <a:lstStyle/>
          <a:p>
            <a:pPr algn="ctr"/>
            <a:r>
              <a:rPr sz="2000" b="1" i="0">
                <a:solidFill>
                  <a:srgbClr val="FFFFFF"/>
                </a:solidFill>
                <a:latin typeface="Montserrat"/>
              </a:rPr>
              <a:t>3</a:t>
            </a:r>
          </a:p>
        </p:txBody>
      </p:sp>
      <p:sp>
        <p:nvSpPr>
          <p:cNvPr id="18" name="TextBox 17"/>
          <p:cNvSpPr txBox="1"/>
          <p:nvPr/>
        </p:nvSpPr>
        <p:spPr>
          <a:xfrm>
            <a:off x="7620000" y="4174881"/>
            <a:ext cx="4572000" cy="822960"/>
          </a:xfrm>
          <a:prstGeom prst="rect">
            <a:avLst/>
          </a:prstGeom>
          <a:noFill/>
        </p:spPr>
        <p:txBody>
          <a:bodyPr wrap="square" lIns="0" tIns="0" rIns="0" bIns="0" anchor="ctr">
            <a:spAutoFit/>
          </a:bodyPr>
          <a:lstStyle/>
          <a:p>
            <a:r>
              <a:rPr sz="1600" b="1" i="0">
                <a:solidFill>
                  <a:srgbClr val="22302A"/>
                </a:solidFill>
                <a:latin typeface="Open Sans"/>
              </a:rPr>
              <a:t>Índices 0–1  por dimensión</a:t>
            </a:r>
          </a:p>
        </p:txBody>
      </p:sp>
      <p:sp>
        <p:nvSpPr>
          <p:cNvPr id="19" name="Oval 18"/>
          <p:cNvSpPr/>
          <p:nvPr/>
        </p:nvSpPr>
        <p:spPr>
          <a:xfrm>
            <a:off x="6842761" y="5107569"/>
            <a:ext cx="566928" cy="566928"/>
          </a:xfrm>
          <a:prstGeom prst="ellipse">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42761" y="5162432"/>
            <a:ext cx="566928" cy="457200"/>
          </a:xfrm>
          <a:prstGeom prst="rect">
            <a:avLst/>
          </a:prstGeom>
          <a:noFill/>
        </p:spPr>
        <p:txBody>
          <a:bodyPr wrap="square" lIns="0" tIns="0" rIns="0" bIns="0" anchor="ctr">
            <a:spAutoFit/>
          </a:bodyPr>
          <a:lstStyle/>
          <a:p>
            <a:pPr algn="ctr"/>
            <a:r>
              <a:rPr sz="2000" b="1" i="0">
                <a:solidFill>
                  <a:srgbClr val="FFFFFF"/>
                </a:solidFill>
                <a:latin typeface="Montserrat"/>
              </a:rPr>
              <a:t>4</a:t>
            </a:r>
          </a:p>
        </p:txBody>
      </p:sp>
      <p:sp>
        <p:nvSpPr>
          <p:cNvPr id="21" name="TextBox 20"/>
          <p:cNvSpPr txBox="1"/>
          <p:nvPr/>
        </p:nvSpPr>
        <p:spPr>
          <a:xfrm>
            <a:off x="7620000" y="5107569"/>
            <a:ext cx="4572000" cy="822960"/>
          </a:xfrm>
          <a:prstGeom prst="rect">
            <a:avLst/>
          </a:prstGeom>
          <a:noFill/>
        </p:spPr>
        <p:txBody>
          <a:bodyPr wrap="square" lIns="0" tIns="0" rIns="0" bIns="0" anchor="ctr">
            <a:spAutoFit/>
          </a:bodyPr>
          <a:lstStyle/>
          <a:p>
            <a:r>
              <a:rPr sz="1600" b="1" i="0">
                <a:solidFill>
                  <a:srgbClr val="22302A"/>
                </a:solidFill>
                <a:latin typeface="Open Sans"/>
              </a:rPr>
              <a:t>Priorización  usable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6</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EL MODELO</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Clasifica el riesgo</a:t>
            </a:r>
          </a:p>
          <a:p>
            <a:pPr algn="l">
              <a:lnSpc>
                <a:spcPct val="104000"/>
              </a:lnSpc>
            </a:pPr>
            <a:r>
              <a:rPr sz="3300" b="1" i="0">
                <a:solidFill>
                  <a:srgbClr val="123A5C"/>
                </a:solidFill>
                <a:latin typeface="Montserrat"/>
              </a:rPr>
              <a:t>y explica el porqué.</a:t>
            </a:r>
          </a:p>
        </p:txBody>
      </p:sp>
      <p:sp>
        <p:nvSpPr>
          <p:cNvPr id="8" name="TextBox 7"/>
          <p:cNvSpPr txBox="1"/>
          <p:nvPr/>
        </p:nvSpPr>
        <p:spPr>
          <a:xfrm>
            <a:off x="713232" y="2468880"/>
            <a:ext cx="4937760" cy="4206240"/>
          </a:xfrm>
          <a:prstGeom prst="rect">
            <a:avLst/>
          </a:prstGeom>
          <a:noFill/>
        </p:spPr>
        <p:txBody>
          <a:bodyPr wrap="square" lIns="0" tIns="0" rIns="0" bIns="0" anchor="t">
            <a:spAutoFit/>
          </a:bodyPr>
          <a:lstStyle/>
          <a:p>
            <a:pPr>
              <a:lnSpc>
                <a:spcPct val="112000"/>
              </a:lnSpc>
              <a:spcAft>
                <a:spcPts val="1400"/>
              </a:spcAft>
            </a:pPr>
            <a:r>
              <a:rPr sz="1100" b="1" i="0">
                <a:solidFill>
                  <a:srgbClr val="1B7A46"/>
                </a:solidFill>
                <a:latin typeface="Open Sans"/>
              </a:rPr>
              <a:t>●  </a:t>
            </a:r>
            <a:r>
              <a:rPr sz="1850" b="0" i="0">
                <a:solidFill>
                  <a:srgbClr val="22302A"/>
                </a:solidFill>
                <a:latin typeface="Open Sans"/>
              </a:rPr>
              <a:t>Cuatro niveles: Bajo, Medio, Alto y Crítico.</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Lo valioso: explica qué factor pesó más (fuego, minería, deforestación).</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Inteligencia artificial interpretable, no una caja negra.</a:t>
            </a:r>
          </a:p>
        </p:txBody>
      </p:sp>
      <p:sp>
        <p:nvSpPr>
          <p:cNvPr id="9" name="Rounded Rectangle 8"/>
          <p:cNvSpPr/>
          <p:nvPr/>
        </p:nvSpPr>
        <p:spPr>
          <a:xfrm>
            <a:off x="6035040" y="2468880"/>
            <a:ext cx="1234440" cy="640080"/>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400" b="1" i="0">
                <a:solidFill>
                  <a:srgbClr val="FFFFFF"/>
                </a:solidFill>
                <a:latin typeface="Montserrat"/>
              </a:rPr>
              <a:t>Bajo</a:t>
            </a:r>
          </a:p>
        </p:txBody>
      </p:sp>
      <p:sp>
        <p:nvSpPr>
          <p:cNvPr id="10" name="Rounded Rectangle 9"/>
          <p:cNvSpPr/>
          <p:nvPr/>
        </p:nvSpPr>
        <p:spPr>
          <a:xfrm>
            <a:off x="7406640" y="2468880"/>
            <a:ext cx="1234440" cy="64008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400" b="1" i="0">
                <a:solidFill>
                  <a:srgbClr val="FFFFFF"/>
                </a:solidFill>
                <a:latin typeface="Montserrat"/>
              </a:rPr>
              <a:t>Medio</a:t>
            </a:r>
          </a:p>
        </p:txBody>
      </p:sp>
      <p:sp>
        <p:nvSpPr>
          <p:cNvPr id="11" name="Rounded Rectangle 10"/>
          <p:cNvSpPr/>
          <p:nvPr/>
        </p:nvSpPr>
        <p:spPr>
          <a:xfrm>
            <a:off x="8778240" y="2468880"/>
            <a:ext cx="1234440" cy="640080"/>
          </a:xfrm>
          <a:prstGeom prst="round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400" b="1" i="0">
                <a:solidFill>
                  <a:srgbClr val="FFFFFF"/>
                </a:solidFill>
                <a:latin typeface="Montserrat"/>
              </a:rPr>
              <a:t>Alto</a:t>
            </a:r>
          </a:p>
        </p:txBody>
      </p:sp>
      <p:sp>
        <p:nvSpPr>
          <p:cNvPr id="12" name="Rounded Rectangle 11"/>
          <p:cNvSpPr/>
          <p:nvPr/>
        </p:nvSpPr>
        <p:spPr>
          <a:xfrm>
            <a:off x="10149840" y="2468880"/>
            <a:ext cx="1234440" cy="64008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400" b="1" i="0">
                <a:solidFill>
                  <a:srgbClr val="FFFFFF"/>
                </a:solidFill>
                <a:latin typeface="Montserrat"/>
              </a:rPr>
              <a:t>Crítico</a:t>
            </a:r>
          </a:p>
        </p:txBody>
      </p:sp>
      <p:pic>
        <p:nvPicPr>
          <p:cNvPr id="13" name="Picture 12" descr="19_shap_framed.png"/>
          <p:cNvPicPr>
            <a:picLocks noChangeAspect="1"/>
          </p:cNvPicPr>
          <p:nvPr/>
        </p:nvPicPr>
        <p:blipFill>
          <a:blip r:embed="rId3"/>
          <a:stretch>
            <a:fillRect/>
          </a:stretch>
        </p:blipFill>
        <p:spPr>
          <a:xfrm>
            <a:off x="7035740" y="3337560"/>
            <a:ext cx="3484999" cy="2514600"/>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DAA372B-BF98-0BFD-95F3-A5A9A2831255}"/>
              </a:ext>
            </a:extLst>
          </p:cNvPr>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7</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CASO REAL</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Barrancabermeja:</a:t>
            </a:r>
          </a:p>
          <a:p>
            <a:pPr algn="l">
              <a:lnSpc>
                <a:spcPct val="104000"/>
              </a:lnSpc>
            </a:pPr>
            <a:r>
              <a:rPr sz="3300" b="1" i="0">
                <a:solidFill>
                  <a:srgbClr val="123A5C"/>
                </a:solidFill>
                <a:latin typeface="Montserrat"/>
              </a:rPr>
              <a:t>riesgo Crítico, con evidencia.</a:t>
            </a:r>
          </a:p>
        </p:txBody>
      </p:sp>
      <p:sp>
        <p:nvSpPr>
          <p:cNvPr id="8" name="TextBox 7"/>
          <p:cNvSpPr txBox="1"/>
          <p:nvPr/>
        </p:nvSpPr>
        <p:spPr>
          <a:xfrm>
            <a:off x="685800" y="2865512"/>
            <a:ext cx="4965191"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Coinciden</a:t>
            </a:r>
            <a:r>
              <a:rPr sz="1850" b="0" i="0" dirty="0">
                <a:solidFill>
                  <a:srgbClr val="22302A"/>
                </a:solidFill>
                <a:latin typeface="Open Sans"/>
              </a:rPr>
              <a:t> </a:t>
            </a:r>
            <a:r>
              <a:rPr sz="1850" b="0" i="0" dirty="0" err="1">
                <a:solidFill>
                  <a:srgbClr val="22302A"/>
                </a:solidFill>
                <a:latin typeface="Open Sans"/>
              </a:rPr>
              <a:t>minería</a:t>
            </a:r>
            <a:r>
              <a:rPr sz="1850" b="0" i="0" dirty="0">
                <a:solidFill>
                  <a:srgbClr val="22302A"/>
                </a:solidFill>
                <a:latin typeface="Open Sans"/>
              </a:rPr>
              <a:t>, </a:t>
            </a:r>
            <a:r>
              <a:rPr sz="1850" b="0" i="0" dirty="0" err="1">
                <a:solidFill>
                  <a:srgbClr val="22302A"/>
                </a:solidFill>
                <a:latin typeface="Open Sans"/>
              </a:rPr>
              <a:t>afectación</a:t>
            </a:r>
            <a:r>
              <a:rPr sz="1850" b="0" i="0" dirty="0">
                <a:solidFill>
                  <a:srgbClr val="22302A"/>
                </a:solidFill>
                <a:latin typeface="Open Sans"/>
              </a:rPr>
              <a:t> </a:t>
            </a:r>
            <a:r>
              <a:rPr sz="1850" b="0" i="0" dirty="0" err="1">
                <a:solidFill>
                  <a:srgbClr val="22302A"/>
                </a:solidFill>
                <a:latin typeface="Open Sans"/>
              </a:rPr>
              <a:t>hídrica</a:t>
            </a:r>
            <a:r>
              <a:rPr sz="1850" b="0" i="0" dirty="0">
                <a:solidFill>
                  <a:srgbClr val="22302A"/>
                </a:solidFill>
                <a:latin typeface="Open Sans"/>
              </a:rPr>
              <a:t> y </a:t>
            </a:r>
            <a:r>
              <a:rPr sz="1850" b="0" i="0" dirty="0" err="1">
                <a:solidFill>
                  <a:srgbClr val="22302A"/>
                </a:solidFill>
                <a:latin typeface="Open Sans"/>
              </a:rPr>
              <a:t>sensibilidad</a:t>
            </a:r>
            <a:r>
              <a:rPr sz="1850" b="0" i="0" dirty="0">
                <a:solidFill>
                  <a:srgbClr val="22302A"/>
                </a:solidFill>
                <a:latin typeface="Open Sans"/>
              </a:rPr>
              <a:t> </a:t>
            </a:r>
            <a:r>
              <a:rPr sz="1850" b="0" i="0" dirty="0" err="1">
                <a:solidFill>
                  <a:srgbClr val="22302A"/>
                </a:solidFill>
                <a:latin typeface="Open Sans"/>
              </a:rPr>
              <a:t>ambiental</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La IA no </a:t>
            </a:r>
            <a:r>
              <a:rPr sz="1850" b="0" i="0" dirty="0" err="1">
                <a:solidFill>
                  <a:srgbClr val="22302A"/>
                </a:solidFill>
                <a:latin typeface="Open Sans"/>
              </a:rPr>
              <a:t>sanciona</a:t>
            </a:r>
            <a:r>
              <a:rPr sz="1850" b="0" i="0" dirty="0">
                <a:solidFill>
                  <a:srgbClr val="22302A"/>
                </a:solidFill>
                <a:latin typeface="Open Sans"/>
              </a:rPr>
              <a:t>: dice “</a:t>
            </a:r>
            <a:r>
              <a:rPr sz="1850" b="0" i="0" dirty="0" err="1">
                <a:solidFill>
                  <a:srgbClr val="22302A"/>
                </a:solidFill>
                <a:latin typeface="Open Sans"/>
              </a:rPr>
              <a:t>revisen</a:t>
            </a:r>
            <a:r>
              <a:rPr sz="1850" b="0" i="0" dirty="0">
                <a:solidFill>
                  <a:srgbClr val="22302A"/>
                </a:solidFill>
                <a:latin typeface="Open Sans"/>
              </a:rPr>
              <a:t> </a:t>
            </a:r>
            <a:r>
              <a:rPr sz="1850" b="0" i="0" dirty="0" err="1">
                <a:solidFill>
                  <a:srgbClr val="22302A"/>
                </a:solidFill>
                <a:latin typeface="Open Sans"/>
              </a:rPr>
              <a:t>aquí</a:t>
            </a:r>
            <a:r>
              <a:rPr sz="1850" b="0" i="0" dirty="0">
                <a:solidFill>
                  <a:srgbClr val="22302A"/>
                </a:solidFill>
                <a:latin typeface="Open Sans"/>
              </a:rPr>
              <a:t> primero”.</a:t>
            </a:r>
          </a:p>
          <a:p>
            <a:pPr>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Evidencia</a:t>
            </a:r>
            <a:r>
              <a:rPr sz="1850" b="0" i="0" dirty="0">
                <a:solidFill>
                  <a:srgbClr val="22302A"/>
                </a:solidFill>
                <a:latin typeface="Open Sans"/>
              </a:rPr>
              <a:t> </a:t>
            </a:r>
            <a:r>
              <a:rPr sz="1850" b="0" i="0" dirty="0" err="1">
                <a:solidFill>
                  <a:srgbClr val="22302A"/>
                </a:solidFill>
                <a:latin typeface="Open Sans"/>
              </a:rPr>
              <a:t>combinada</a:t>
            </a:r>
            <a:r>
              <a:rPr sz="1850" b="0" i="0" dirty="0">
                <a:solidFill>
                  <a:srgbClr val="22302A"/>
                </a:solidFill>
                <a:latin typeface="Open Sans"/>
              </a:rPr>
              <a:t>, </a:t>
            </a:r>
            <a:r>
              <a:rPr sz="1850" b="0" i="0" dirty="0" err="1">
                <a:solidFill>
                  <a:srgbClr val="22302A"/>
                </a:solidFill>
                <a:latin typeface="Open Sans"/>
              </a:rPr>
              <a:t>lista</a:t>
            </a:r>
            <a:r>
              <a:rPr sz="1850" b="0" i="0" dirty="0">
                <a:solidFill>
                  <a:srgbClr val="22302A"/>
                </a:solidFill>
                <a:latin typeface="Open Sans"/>
              </a:rPr>
              <a:t> para la </a:t>
            </a:r>
            <a:r>
              <a:rPr sz="1850" b="0" i="0" dirty="0" err="1">
                <a:solidFill>
                  <a:srgbClr val="22302A"/>
                </a:solidFill>
                <a:latin typeface="Open Sans"/>
              </a:rPr>
              <a:t>autoridad</a:t>
            </a:r>
            <a:r>
              <a:rPr sz="1850" b="0" i="0" dirty="0">
                <a:solidFill>
                  <a:srgbClr val="22302A"/>
                </a:solidFill>
                <a:latin typeface="Open Sans"/>
              </a:rPr>
              <a:t>.</a:t>
            </a:r>
          </a:p>
        </p:txBody>
      </p:sp>
      <p:sp>
        <p:nvSpPr>
          <p:cNvPr id="9" name="Rounded Rectangle 8"/>
          <p:cNvSpPr/>
          <p:nvPr/>
        </p:nvSpPr>
        <p:spPr>
          <a:xfrm>
            <a:off x="5989320" y="2431172"/>
            <a:ext cx="2697480" cy="86868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700" b="1" i="0" dirty="0">
                <a:solidFill>
                  <a:srgbClr val="FFFFFF"/>
                </a:solidFill>
                <a:latin typeface="Montserrat"/>
              </a:rPr>
              <a:t>NIVEL</a:t>
            </a:r>
          </a:p>
          <a:p>
            <a:pPr algn="ctr"/>
            <a:r>
              <a:rPr sz="1700" b="1" i="0" dirty="0">
                <a:solidFill>
                  <a:srgbClr val="FFFFFF"/>
                </a:solidFill>
                <a:latin typeface="Montserrat"/>
              </a:rPr>
              <a:t>CRÍTICO</a:t>
            </a:r>
          </a:p>
        </p:txBody>
      </p:sp>
      <p:sp>
        <p:nvSpPr>
          <p:cNvPr id="10" name="TextBox 9"/>
          <p:cNvSpPr txBox="1"/>
          <p:nvPr/>
        </p:nvSpPr>
        <p:spPr>
          <a:xfrm>
            <a:off x="8915400" y="2449460"/>
            <a:ext cx="2651760" cy="1234440"/>
          </a:xfrm>
          <a:prstGeom prst="rect">
            <a:avLst/>
          </a:prstGeom>
          <a:noFill/>
        </p:spPr>
        <p:txBody>
          <a:bodyPr wrap="square" lIns="0" tIns="0" rIns="0" bIns="0" anchor="t">
            <a:spAutoFit/>
          </a:bodyPr>
          <a:lstStyle/>
          <a:p>
            <a:r>
              <a:rPr sz="4400" b="1" i="0">
                <a:solidFill>
                  <a:srgbClr val="123A5C"/>
                </a:solidFill>
                <a:latin typeface="Montserrat"/>
              </a:rPr>
              <a:t>0.43</a:t>
            </a:r>
          </a:p>
          <a:p>
            <a:pPr>
              <a:spcBef>
                <a:spcPts val="200"/>
              </a:spcBef>
            </a:pPr>
            <a:r>
              <a:rPr sz="1250" b="0" i="0">
                <a:solidFill>
                  <a:srgbClr val="5B6B62"/>
                </a:solidFill>
                <a:latin typeface="Open Sans"/>
              </a:rPr>
              <a:t>Score de priorización (0–1)</a:t>
            </a:r>
          </a:p>
        </p:txBody>
      </p:sp>
      <p:sp>
        <p:nvSpPr>
          <p:cNvPr id="11" name="TextBox 10"/>
          <p:cNvSpPr txBox="1"/>
          <p:nvPr/>
        </p:nvSpPr>
        <p:spPr>
          <a:xfrm>
            <a:off x="5989320" y="3665612"/>
            <a:ext cx="1828800" cy="365760"/>
          </a:xfrm>
          <a:prstGeom prst="rect">
            <a:avLst/>
          </a:prstGeom>
          <a:noFill/>
        </p:spPr>
        <p:txBody>
          <a:bodyPr wrap="square" lIns="0" tIns="0" rIns="0" bIns="0" anchor="t">
            <a:spAutoFit/>
          </a:bodyPr>
          <a:lstStyle/>
          <a:p>
            <a:r>
              <a:rPr sz="1400" b="1" i="0">
                <a:solidFill>
                  <a:srgbClr val="22302A"/>
                </a:solidFill>
                <a:latin typeface="Open Sans"/>
              </a:rPr>
              <a:t>Minería</a:t>
            </a:r>
          </a:p>
        </p:txBody>
      </p:sp>
      <p:sp>
        <p:nvSpPr>
          <p:cNvPr id="12" name="Rounded Rectangle 11"/>
          <p:cNvSpPr/>
          <p:nvPr/>
        </p:nvSpPr>
        <p:spPr>
          <a:xfrm>
            <a:off x="7726679" y="3683900"/>
            <a:ext cx="3291840" cy="2743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26679" y="3683900"/>
            <a:ext cx="2403043" cy="274320"/>
          </a:xfrm>
          <a:prstGeom prst="round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064240" y="3665612"/>
            <a:ext cx="502920" cy="365760"/>
          </a:xfrm>
          <a:prstGeom prst="rect">
            <a:avLst/>
          </a:prstGeom>
          <a:noFill/>
        </p:spPr>
        <p:txBody>
          <a:bodyPr wrap="square" lIns="0" tIns="0" rIns="0" bIns="0" anchor="t">
            <a:spAutoFit/>
          </a:bodyPr>
          <a:lstStyle/>
          <a:p>
            <a:r>
              <a:rPr sz="1300" b="1" i="0">
                <a:solidFill>
                  <a:srgbClr val="5B6B62"/>
                </a:solidFill>
                <a:latin typeface="Montserrat"/>
              </a:rPr>
              <a:t>0.73</a:t>
            </a:r>
          </a:p>
        </p:txBody>
      </p:sp>
      <p:sp>
        <p:nvSpPr>
          <p:cNvPr id="15" name="TextBox 14"/>
          <p:cNvSpPr txBox="1"/>
          <p:nvPr/>
        </p:nvSpPr>
        <p:spPr>
          <a:xfrm>
            <a:off x="5989320" y="4378844"/>
            <a:ext cx="1828800" cy="365760"/>
          </a:xfrm>
          <a:prstGeom prst="rect">
            <a:avLst/>
          </a:prstGeom>
          <a:noFill/>
        </p:spPr>
        <p:txBody>
          <a:bodyPr wrap="square" lIns="0" tIns="0" rIns="0" bIns="0" anchor="t">
            <a:spAutoFit/>
          </a:bodyPr>
          <a:lstStyle/>
          <a:p>
            <a:r>
              <a:rPr sz="1400" b="1" i="0">
                <a:solidFill>
                  <a:srgbClr val="22302A"/>
                </a:solidFill>
                <a:latin typeface="Open Sans"/>
              </a:rPr>
              <a:t>Hídrico</a:t>
            </a:r>
          </a:p>
        </p:txBody>
      </p:sp>
      <p:sp>
        <p:nvSpPr>
          <p:cNvPr id="16" name="Rounded Rectangle 15"/>
          <p:cNvSpPr/>
          <p:nvPr/>
        </p:nvSpPr>
        <p:spPr>
          <a:xfrm>
            <a:off x="7726679" y="4397132"/>
            <a:ext cx="3291840" cy="2743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726679" y="4397132"/>
            <a:ext cx="1415491" cy="27432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064240" y="4378844"/>
            <a:ext cx="502920" cy="365760"/>
          </a:xfrm>
          <a:prstGeom prst="rect">
            <a:avLst/>
          </a:prstGeom>
          <a:noFill/>
        </p:spPr>
        <p:txBody>
          <a:bodyPr wrap="square" lIns="0" tIns="0" rIns="0" bIns="0" anchor="t">
            <a:spAutoFit/>
          </a:bodyPr>
          <a:lstStyle/>
          <a:p>
            <a:r>
              <a:rPr sz="1300" b="1" i="0">
                <a:solidFill>
                  <a:srgbClr val="5B6B62"/>
                </a:solidFill>
                <a:latin typeface="Montserrat"/>
              </a:rPr>
              <a:t>0.43</a:t>
            </a:r>
          </a:p>
        </p:txBody>
      </p:sp>
      <p:sp>
        <p:nvSpPr>
          <p:cNvPr id="19" name="TextBox 18"/>
          <p:cNvSpPr txBox="1"/>
          <p:nvPr/>
        </p:nvSpPr>
        <p:spPr>
          <a:xfrm>
            <a:off x="5989320" y="5092075"/>
            <a:ext cx="1828800" cy="365760"/>
          </a:xfrm>
          <a:prstGeom prst="rect">
            <a:avLst/>
          </a:prstGeom>
          <a:noFill/>
        </p:spPr>
        <p:txBody>
          <a:bodyPr wrap="square" lIns="0" tIns="0" rIns="0" bIns="0" anchor="t">
            <a:spAutoFit/>
          </a:bodyPr>
          <a:lstStyle/>
          <a:p>
            <a:r>
              <a:rPr sz="1400" b="1" i="0">
                <a:solidFill>
                  <a:srgbClr val="22302A"/>
                </a:solidFill>
                <a:latin typeface="Open Sans"/>
              </a:rPr>
              <a:t>Sensibilidad</a:t>
            </a:r>
          </a:p>
        </p:txBody>
      </p:sp>
      <p:sp>
        <p:nvSpPr>
          <p:cNvPr id="20" name="Rounded Rectangle 19"/>
          <p:cNvSpPr/>
          <p:nvPr/>
        </p:nvSpPr>
        <p:spPr>
          <a:xfrm>
            <a:off x="7726679" y="5110363"/>
            <a:ext cx="3291840" cy="27432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26679" y="5110363"/>
            <a:ext cx="2337206" cy="274320"/>
          </a:xfrm>
          <a:prstGeom prst="round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064240" y="5092075"/>
            <a:ext cx="502920" cy="365760"/>
          </a:xfrm>
          <a:prstGeom prst="rect">
            <a:avLst/>
          </a:prstGeom>
          <a:noFill/>
        </p:spPr>
        <p:txBody>
          <a:bodyPr wrap="square" lIns="0" tIns="0" rIns="0" bIns="0" anchor="t">
            <a:spAutoFit/>
          </a:bodyPr>
          <a:lstStyle/>
          <a:p>
            <a:r>
              <a:rPr sz="1300" b="1" i="0">
                <a:solidFill>
                  <a:srgbClr val="5B6B62"/>
                </a:solidFill>
                <a:latin typeface="Montserrat"/>
              </a:rPr>
              <a:t>0.71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9</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CAPA SATELITAL · TIEMPO REAL</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El modelo lo predice,</a:t>
            </a:r>
          </a:p>
          <a:p>
            <a:pPr algn="l">
              <a:lnSpc>
                <a:spcPct val="104000"/>
              </a:lnSpc>
            </a:pPr>
            <a:r>
              <a:rPr sz="3300" b="1" i="0">
                <a:solidFill>
                  <a:srgbClr val="123A5C"/>
                </a:solidFill>
                <a:latin typeface="Montserrat"/>
              </a:rPr>
              <a:t>el satélite lo confirma.</a:t>
            </a:r>
          </a:p>
        </p:txBody>
      </p:sp>
      <p:sp>
        <p:nvSpPr>
          <p:cNvPr id="8" name="TextBox 7"/>
          <p:cNvSpPr txBox="1"/>
          <p:nvPr/>
        </p:nvSpPr>
        <p:spPr>
          <a:xfrm>
            <a:off x="713232" y="2468880"/>
            <a:ext cx="4937760" cy="4206240"/>
          </a:xfrm>
          <a:prstGeom prst="rect">
            <a:avLst/>
          </a:prstGeom>
          <a:noFill/>
        </p:spPr>
        <p:txBody>
          <a:bodyPr wrap="square" lIns="0" tIns="0" rIns="0" bIns="0" anchor="t">
            <a:spAutoFit/>
          </a:bodyPr>
          <a:lstStyle/>
          <a:p>
            <a:pPr>
              <a:lnSpc>
                <a:spcPct val="112000"/>
              </a:lnSpc>
              <a:spcAft>
                <a:spcPts val="1400"/>
              </a:spcAft>
            </a:pPr>
            <a:r>
              <a:rPr sz="1100" b="1" i="0">
                <a:solidFill>
                  <a:srgbClr val="1B7A46"/>
                </a:solidFill>
                <a:latin typeface="Open Sans"/>
              </a:rPr>
              <a:t>●  </a:t>
            </a:r>
            <a:r>
              <a:rPr sz="1850" b="0" i="0">
                <a:solidFill>
                  <a:srgbClr val="22302A"/>
                </a:solidFill>
                <a:latin typeface="Open Sans"/>
              </a:rPr>
              <a:t>Focos de calor de la NASA, actualizados a diario.</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Riesgo alto + fuego hoy = prioridad máxima de verificación.</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Del análisis estático a la respuesta en tiempo real.</a:t>
            </a:r>
          </a:p>
        </p:txBody>
      </p:sp>
      <p:sp>
        <p:nvSpPr>
          <p:cNvPr id="9" name="TextBox 8"/>
          <p:cNvSpPr txBox="1"/>
          <p:nvPr/>
        </p:nvSpPr>
        <p:spPr>
          <a:xfrm>
            <a:off x="731520" y="5010824"/>
            <a:ext cx="2331720" cy="895117"/>
          </a:xfrm>
          <a:prstGeom prst="rect">
            <a:avLst/>
          </a:prstGeom>
          <a:noFill/>
        </p:spPr>
        <p:txBody>
          <a:bodyPr wrap="square" lIns="0" tIns="0" rIns="0" bIns="0" anchor="t">
            <a:spAutoFit/>
          </a:bodyPr>
          <a:lstStyle/>
          <a:p>
            <a:pPr algn="ctr"/>
            <a:r>
              <a:rPr sz="4400" b="1" i="0" dirty="0">
                <a:solidFill>
                  <a:srgbClr val="EA580C"/>
                </a:solidFill>
                <a:latin typeface="Montserrat"/>
              </a:rPr>
              <a:t>296</a:t>
            </a:r>
          </a:p>
          <a:p>
            <a:pPr algn="ctr">
              <a:spcBef>
                <a:spcPts val="200"/>
              </a:spcBef>
            </a:pPr>
            <a:r>
              <a:rPr sz="1250" b="0" i="0" dirty="0">
                <a:solidFill>
                  <a:srgbClr val="5B6B62"/>
                </a:solidFill>
                <a:latin typeface="Open Sans"/>
              </a:rPr>
              <a:t>Municipios con </a:t>
            </a:r>
            <a:r>
              <a:rPr sz="1250" b="0" i="0" dirty="0" err="1">
                <a:solidFill>
                  <a:srgbClr val="5B6B62"/>
                </a:solidFill>
                <a:latin typeface="Open Sans"/>
              </a:rPr>
              <a:t>fuego</a:t>
            </a:r>
            <a:endParaRPr sz="1250" b="0" i="0" dirty="0">
              <a:solidFill>
                <a:srgbClr val="5B6B62"/>
              </a:solidFill>
              <a:latin typeface="Open Sans"/>
            </a:endParaRPr>
          </a:p>
        </p:txBody>
      </p:sp>
      <p:sp>
        <p:nvSpPr>
          <p:cNvPr id="10" name="TextBox 9"/>
          <p:cNvSpPr txBox="1"/>
          <p:nvPr/>
        </p:nvSpPr>
        <p:spPr>
          <a:xfrm>
            <a:off x="3200400" y="5010824"/>
            <a:ext cx="2331720" cy="895117"/>
          </a:xfrm>
          <a:prstGeom prst="rect">
            <a:avLst/>
          </a:prstGeom>
          <a:noFill/>
        </p:spPr>
        <p:txBody>
          <a:bodyPr wrap="square" lIns="0" tIns="0" rIns="0" bIns="0" anchor="t">
            <a:spAutoFit/>
          </a:bodyPr>
          <a:lstStyle/>
          <a:p>
            <a:pPr algn="ctr"/>
            <a:r>
              <a:rPr sz="4400" b="1" i="0" dirty="0">
                <a:solidFill>
                  <a:srgbClr val="B91C1C"/>
                </a:solidFill>
                <a:latin typeface="Montserrat"/>
              </a:rPr>
              <a:t>62</a:t>
            </a:r>
          </a:p>
          <a:p>
            <a:pPr algn="ctr">
              <a:spcBef>
                <a:spcPts val="200"/>
              </a:spcBef>
            </a:pPr>
            <a:r>
              <a:rPr sz="1250" b="0" i="0" dirty="0" err="1">
                <a:solidFill>
                  <a:srgbClr val="5B6B62"/>
                </a:solidFill>
                <a:latin typeface="Open Sans"/>
              </a:rPr>
              <a:t>Prioridad</a:t>
            </a:r>
            <a:r>
              <a:rPr sz="1250" b="0" i="0" dirty="0">
                <a:solidFill>
                  <a:srgbClr val="5B6B62"/>
                </a:solidFill>
                <a:latin typeface="Open Sans"/>
              </a:rPr>
              <a:t> </a:t>
            </a:r>
            <a:r>
              <a:rPr sz="1250" b="0" i="0" dirty="0" err="1">
                <a:solidFill>
                  <a:srgbClr val="5B6B62"/>
                </a:solidFill>
                <a:latin typeface="Open Sans"/>
              </a:rPr>
              <a:t>máxima</a:t>
            </a:r>
            <a:endParaRPr sz="1250" b="0" i="0" dirty="0">
              <a:solidFill>
                <a:srgbClr val="5B6B62"/>
              </a:solidFill>
              <a:latin typeface="Open Sans"/>
            </a:endParaRPr>
          </a:p>
        </p:txBody>
      </p:sp>
      <p:pic>
        <p:nvPicPr>
          <p:cNvPr id="11" name="Picture 10" descr="20_mapa_focos_nrt.png"/>
          <p:cNvPicPr>
            <a:picLocks noChangeAspect="1"/>
          </p:cNvPicPr>
          <p:nvPr/>
        </p:nvPicPr>
        <p:blipFill>
          <a:blip r:embed="rId3"/>
          <a:stretch>
            <a:fillRect/>
          </a:stretch>
        </p:blipFill>
        <p:spPr>
          <a:xfrm>
            <a:off x="7108459" y="1371600"/>
            <a:ext cx="3522440" cy="4572000"/>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10</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CAPA SATELITAL · DEEP LEARNING</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Zoom satelital: cuántas</a:t>
            </a:r>
          </a:p>
          <a:p>
            <a:pPr algn="l">
              <a:lnSpc>
                <a:spcPct val="104000"/>
              </a:lnSpc>
            </a:pPr>
            <a:r>
              <a:rPr sz="3300" b="1" i="0">
                <a:solidFill>
                  <a:srgbClr val="123A5C"/>
                </a:solidFill>
                <a:latin typeface="Montserrat"/>
              </a:rPr>
              <a:t>hectáreas se perdieron.</a:t>
            </a:r>
          </a:p>
        </p:txBody>
      </p:sp>
      <p:sp>
        <p:nvSpPr>
          <p:cNvPr id="8" name="TextBox 7"/>
          <p:cNvSpPr txBox="1"/>
          <p:nvPr/>
        </p:nvSpPr>
        <p:spPr>
          <a:xfrm>
            <a:off x="713232" y="2468880"/>
            <a:ext cx="4937760" cy="4206240"/>
          </a:xfrm>
          <a:prstGeom prst="rect">
            <a:avLst/>
          </a:prstGeom>
          <a:noFill/>
        </p:spPr>
        <p:txBody>
          <a:bodyPr wrap="square" lIns="0" tIns="0" rIns="0" bIns="0" anchor="t">
            <a:spAutoFit/>
          </a:bodyPr>
          <a:lstStyle/>
          <a:p>
            <a:pPr>
              <a:lnSpc>
                <a:spcPct val="112000"/>
              </a:lnSpc>
              <a:spcAft>
                <a:spcPts val="1400"/>
              </a:spcAft>
            </a:pPr>
            <a:r>
              <a:rPr sz="1100" b="1" i="0">
                <a:solidFill>
                  <a:srgbClr val="1B7A46"/>
                </a:solidFill>
                <a:latin typeface="Open Sans"/>
              </a:rPr>
              <a:t>●  </a:t>
            </a:r>
            <a:r>
              <a:rPr sz="1850" b="0" i="0">
                <a:solidFill>
                  <a:srgbClr val="22302A"/>
                </a:solidFill>
                <a:latin typeface="Open Sans"/>
              </a:rPr>
              <a:t>Imágenes Sentinel-2 procesadas en la GPU del Ministerio.</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Vemos el antes y el después: hectáreas exactas de pérdida.</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Soberanía total: el dato no sale del Estado.</a:t>
            </a:r>
          </a:p>
        </p:txBody>
      </p:sp>
      <p:sp>
        <p:nvSpPr>
          <p:cNvPr id="9" name="TextBox 8"/>
          <p:cNvSpPr txBox="1"/>
          <p:nvPr/>
        </p:nvSpPr>
        <p:spPr>
          <a:xfrm>
            <a:off x="731520" y="4925977"/>
            <a:ext cx="2331720" cy="895117"/>
          </a:xfrm>
          <a:prstGeom prst="rect">
            <a:avLst/>
          </a:prstGeom>
          <a:noFill/>
        </p:spPr>
        <p:txBody>
          <a:bodyPr wrap="square" lIns="0" tIns="0" rIns="0" bIns="0" anchor="t">
            <a:spAutoFit/>
          </a:bodyPr>
          <a:lstStyle/>
          <a:p>
            <a:pPr algn="ctr"/>
            <a:r>
              <a:rPr sz="4400" b="1" i="0" dirty="0">
                <a:solidFill>
                  <a:srgbClr val="EA580C"/>
                </a:solidFill>
                <a:latin typeface="Montserrat"/>
              </a:rPr>
              <a:t>985</a:t>
            </a:r>
          </a:p>
          <a:p>
            <a:pPr algn="ctr">
              <a:spcBef>
                <a:spcPts val="200"/>
              </a:spcBef>
            </a:pPr>
            <a:r>
              <a:rPr sz="1250" b="0" i="0" dirty="0" err="1">
                <a:solidFill>
                  <a:srgbClr val="5B6B62"/>
                </a:solidFill>
                <a:latin typeface="Open Sans"/>
              </a:rPr>
              <a:t>Hectáreas</a:t>
            </a:r>
            <a:r>
              <a:rPr sz="1250" b="0" i="0" dirty="0">
                <a:solidFill>
                  <a:srgbClr val="5B6B62"/>
                </a:solidFill>
                <a:latin typeface="Open Sans"/>
              </a:rPr>
              <a:t> </a:t>
            </a:r>
            <a:r>
              <a:rPr sz="1250" b="0" i="0" dirty="0" err="1">
                <a:solidFill>
                  <a:srgbClr val="5B6B62"/>
                </a:solidFill>
                <a:latin typeface="Open Sans"/>
              </a:rPr>
              <a:t>detectadas</a:t>
            </a:r>
            <a:endParaRPr sz="1250" b="0" i="0" dirty="0">
              <a:solidFill>
                <a:srgbClr val="5B6B62"/>
              </a:solidFill>
              <a:latin typeface="Open Sans"/>
            </a:endParaRPr>
          </a:p>
        </p:txBody>
      </p:sp>
      <p:sp>
        <p:nvSpPr>
          <p:cNvPr id="10" name="TextBox 9"/>
          <p:cNvSpPr txBox="1"/>
          <p:nvPr/>
        </p:nvSpPr>
        <p:spPr>
          <a:xfrm>
            <a:off x="3200400" y="4925977"/>
            <a:ext cx="2331720" cy="895117"/>
          </a:xfrm>
          <a:prstGeom prst="rect">
            <a:avLst/>
          </a:prstGeom>
          <a:noFill/>
        </p:spPr>
        <p:txBody>
          <a:bodyPr wrap="square" lIns="0" tIns="0" rIns="0" bIns="0" anchor="t">
            <a:spAutoFit/>
          </a:bodyPr>
          <a:lstStyle/>
          <a:p>
            <a:pPr algn="ctr"/>
            <a:r>
              <a:rPr sz="4400" b="1" i="0">
                <a:solidFill>
                  <a:srgbClr val="123A5C"/>
                </a:solidFill>
                <a:latin typeface="Montserrat"/>
              </a:rPr>
              <a:t>0.77</a:t>
            </a:r>
          </a:p>
          <a:p>
            <a:pPr algn="ctr">
              <a:spcBef>
                <a:spcPts val="200"/>
              </a:spcBef>
            </a:pPr>
            <a:r>
              <a:rPr sz="1250" b="0" i="0">
                <a:solidFill>
                  <a:srgbClr val="5B6B62"/>
                </a:solidFill>
                <a:latin typeface="Open Sans"/>
              </a:rPr>
              <a:t>Precisión del modelo (IoU)</a:t>
            </a:r>
          </a:p>
        </p:txBody>
      </p:sp>
      <p:pic>
        <p:nvPicPr>
          <p:cNvPr id="11" name="Picture 10" descr="22_sentinel2_lamacarena.png"/>
          <p:cNvPicPr>
            <a:picLocks noChangeAspect="1"/>
          </p:cNvPicPr>
          <p:nvPr/>
        </p:nvPicPr>
        <p:blipFill>
          <a:blip r:embed="rId3"/>
          <a:stretch>
            <a:fillRect/>
          </a:stretch>
        </p:blipFill>
        <p:spPr>
          <a:xfrm>
            <a:off x="5989320" y="2377440"/>
            <a:ext cx="5577840" cy="2498841"/>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3DD2EE6-1D6C-208A-94C3-6DC00EE7555B}"/>
              </a:ext>
            </a:extLst>
          </p:cNvPr>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11</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IA GENERATIVA SOBERANA</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Pregúntale al sistema</a:t>
            </a:r>
          </a:p>
          <a:p>
            <a:pPr algn="l">
              <a:lnSpc>
                <a:spcPct val="104000"/>
              </a:lnSpc>
            </a:pPr>
            <a:r>
              <a:rPr sz="3300" b="1" i="0">
                <a:solidFill>
                  <a:srgbClr val="123A5C"/>
                </a:solidFill>
                <a:latin typeface="Montserrat"/>
              </a:rPr>
              <a:t>en lenguaje normal.</a:t>
            </a:r>
          </a:p>
        </p:txBody>
      </p:sp>
      <p:sp>
        <p:nvSpPr>
          <p:cNvPr id="8" name="TextBox 7"/>
          <p:cNvSpPr txBox="1"/>
          <p:nvPr/>
        </p:nvSpPr>
        <p:spPr>
          <a:xfrm>
            <a:off x="685800" y="2974408"/>
            <a:ext cx="4992623"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“¿Por </a:t>
            </a:r>
            <a:r>
              <a:rPr sz="1850" b="0" i="0" dirty="0" err="1">
                <a:solidFill>
                  <a:srgbClr val="22302A"/>
                </a:solidFill>
                <a:latin typeface="Open Sans"/>
              </a:rPr>
              <a:t>qué</a:t>
            </a:r>
            <a:r>
              <a:rPr sz="1850" b="0" i="0" dirty="0">
                <a:solidFill>
                  <a:srgbClr val="22302A"/>
                </a:solidFill>
                <a:latin typeface="Open Sans"/>
              </a:rPr>
              <a:t> La Macarena </a:t>
            </a:r>
            <a:r>
              <a:rPr sz="1850" b="0" i="0" dirty="0" err="1">
                <a:solidFill>
                  <a:srgbClr val="22302A"/>
                </a:solidFill>
                <a:latin typeface="Open Sans"/>
              </a:rPr>
              <a:t>está</a:t>
            </a:r>
            <a:r>
              <a:rPr sz="1850" b="0" i="0" dirty="0">
                <a:solidFill>
                  <a:srgbClr val="22302A"/>
                </a:solidFill>
                <a:latin typeface="Open Sans"/>
              </a:rPr>
              <a:t> </a:t>
            </a:r>
            <a:r>
              <a:rPr sz="1850" b="0" i="0" dirty="0" err="1">
                <a:solidFill>
                  <a:srgbClr val="22302A"/>
                </a:solidFill>
                <a:latin typeface="Open Sans"/>
              </a:rPr>
              <a:t>priorizada</a:t>
            </a:r>
            <a:r>
              <a:rPr sz="1850" b="0" i="0" dirty="0">
                <a:solidFill>
                  <a:srgbClr val="22302A"/>
                </a:solidFill>
                <a:latin typeface="Open Sans"/>
              </a:rPr>
              <a:t>?” → </a:t>
            </a:r>
            <a:r>
              <a:rPr sz="1850" b="0" i="0" dirty="0" err="1">
                <a:solidFill>
                  <a:srgbClr val="22302A"/>
                </a:solidFill>
                <a:latin typeface="Open Sans"/>
              </a:rPr>
              <a:t>respuesta</a:t>
            </a:r>
            <a:r>
              <a:rPr sz="1850" b="0" i="0" dirty="0">
                <a:solidFill>
                  <a:srgbClr val="22302A"/>
                </a:solidFill>
                <a:latin typeface="Open Sans"/>
              </a:rPr>
              <a:t> con </a:t>
            </a:r>
            <a:r>
              <a:rPr sz="1850" b="0" i="0" dirty="0" err="1">
                <a:solidFill>
                  <a:srgbClr val="22302A"/>
                </a:solidFill>
                <a:latin typeface="Open Sans"/>
              </a:rPr>
              <a:t>evidencia</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No </a:t>
            </a:r>
            <a:r>
              <a:rPr sz="1850" b="0" i="0" dirty="0" err="1">
                <a:solidFill>
                  <a:srgbClr val="22302A"/>
                </a:solidFill>
                <a:latin typeface="Open Sans"/>
              </a:rPr>
              <a:t>inventa</a:t>
            </a:r>
            <a:r>
              <a:rPr sz="1850" b="0" i="0" dirty="0">
                <a:solidFill>
                  <a:srgbClr val="22302A"/>
                </a:solidFill>
                <a:latin typeface="Open Sans"/>
              </a:rPr>
              <a:t>: solo </a:t>
            </a:r>
            <a:r>
              <a:rPr sz="1850" b="0" i="0" dirty="0" err="1">
                <a:solidFill>
                  <a:srgbClr val="22302A"/>
                </a:solidFill>
                <a:latin typeface="Open Sans"/>
              </a:rPr>
              <a:t>responde</a:t>
            </a:r>
            <a:r>
              <a:rPr sz="1850" b="0" i="0" dirty="0">
                <a:solidFill>
                  <a:srgbClr val="22302A"/>
                </a:solidFill>
                <a:latin typeface="Open Sans"/>
              </a:rPr>
              <a:t> con lo </a:t>
            </a:r>
            <a:r>
              <a:rPr sz="1850" b="0" i="0" dirty="0" err="1">
                <a:solidFill>
                  <a:srgbClr val="22302A"/>
                </a:solidFill>
                <a:latin typeface="Open Sans"/>
              </a:rPr>
              <a:t>que</a:t>
            </a:r>
            <a:r>
              <a:rPr sz="1850" b="0" i="0" dirty="0">
                <a:solidFill>
                  <a:srgbClr val="22302A"/>
                </a:solidFill>
                <a:latin typeface="Open Sans"/>
              </a:rPr>
              <a:t> </a:t>
            </a:r>
            <a:r>
              <a:rPr sz="1850" b="0" i="0" dirty="0" err="1">
                <a:solidFill>
                  <a:srgbClr val="22302A"/>
                </a:solidFill>
                <a:latin typeface="Open Sans"/>
              </a:rPr>
              <a:t>ya</a:t>
            </a:r>
            <a:r>
              <a:rPr sz="1850" b="0" i="0" dirty="0">
                <a:solidFill>
                  <a:srgbClr val="22302A"/>
                </a:solidFill>
                <a:latin typeface="Open Sans"/>
              </a:rPr>
              <a:t> </a:t>
            </a:r>
            <a:r>
              <a:rPr sz="1850" b="0" i="0" dirty="0" err="1">
                <a:solidFill>
                  <a:srgbClr val="22302A"/>
                </a:solidFill>
                <a:latin typeface="Open Sans"/>
              </a:rPr>
              <a:t>está</a:t>
            </a:r>
            <a:r>
              <a:rPr sz="1850" b="0" i="0" dirty="0">
                <a:solidFill>
                  <a:srgbClr val="22302A"/>
                </a:solidFill>
                <a:latin typeface="Open Sans"/>
              </a:rPr>
              <a:t> </a:t>
            </a:r>
            <a:r>
              <a:rPr sz="1850" b="0" i="0" dirty="0" err="1">
                <a:solidFill>
                  <a:srgbClr val="22302A"/>
                </a:solidFill>
                <a:latin typeface="Open Sans"/>
              </a:rPr>
              <a:t>recolectado</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LLM local </a:t>
            </a:r>
            <a:r>
              <a:rPr sz="1850" b="0" i="0" dirty="0" err="1">
                <a:solidFill>
                  <a:srgbClr val="22302A"/>
                </a:solidFill>
                <a:latin typeface="Open Sans"/>
              </a:rPr>
              <a:t>en</a:t>
            </a:r>
            <a:r>
              <a:rPr sz="1850" b="0" i="0" dirty="0">
                <a:solidFill>
                  <a:srgbClr val="22302A"/>
                </a:solidFill>
                <a:latin typeface="Open Sans"/>
              </a:rPr>
              <a:t> las L40S; el </a:t>
            </a:r>
            <a:r>
              <a:rPr sz="1850" b="0" i="0" dirty="0" err="1">
                <a:solidFill>
                  <a:srgbClr val="22302A"/>
                </a:solidFill>
                <a:latin typeface="Open Sans"/>
              </a:rPr>
              <a:t>dato</a:t>
            </a:r>
            <a:r>
              <a:rPr sz="1850" b="0" i="0" dirty="0">
                <a:solidFill>
                  <a:srgbClr val="22302A"/>
                </a:solidFill>
                <a:latin typeface="Open Sans"/>
              </a:rPr>
              <a:t> no sale del </a:t>
            </a:r>
            <a:r>
              <a:rPr sz="1850" b="0" i="0" dirty="0" err="1">
                <a:solidFill>
                  <a:srgbClr val="22302A"/>
                </a:solidFill>
                <a:latin typeface="Open Sans"/>
              </a:rPr>
              <a:t>país</a:t>
            </a:r>
            <a:r>
              <a:rPr sz="1850" b="0" i="0" dirty="0">
                <a:solidFill>
                  <a:srgbClr val="22302A"/>
                </a:solidFill>
                <a:latin typeface="Open Sans"/>
              </a:rPr>
              <a:t>.</a:t>
            </a:r>
          </a:p>
        </p:txBody>
      </p:sp>
      <p:sp>
        <p:nvSpPr>
          <p:cNvPr id="9" name="Rounded Rectangle 8"/>
          <p:cNvSpPr/>
          <p:nvPr/>
        </p:nvSpPr>
        <p:spPr>
          <a:xfrm>
            <a:off x="5989320" y="2318239"/>
            <a:ext cx="5577840" cy="777240"/>
          </a:xfrm>
          <a:prstGeom prst="round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2427967"/>
            <a:ext cx="5120640" cy="548640"/>
          </a:xfrm>
          <a:prstGeom prst="rect">
            <a:avLst/>
          </a:prstGeom>
          <a:noFill/>
        </p:spPr>
        <p:txBody>
          <a:bodyPr wrap="square" lIns="0" tIns="0" rIns="0" bIns="0" anchor="ctr">
            <a:spAutoFit/>
          </a:bodyPr>
          <a:lstStyle/>
          <a:p>
            <a:r>
              <a:rPr sz="1500" b="1" i="0" dirty="0">
                <a:solidFill>
                  <a:srgbClr val="123A5C"/>
                </a:solidFill>
                <a:latin typeface="Open Sans"/>
              </a:rPr>
              <a:t>👤  ¿Por </a:t>
            </a:r>
            <a:r>
              <a:rPr sz="1500" b="1" i="0" dirty="0" err="1">
                <a:solidFill>
                  <a:srgbClr val="123A5C"/>
                </a:solidFill>
                <a:latin typeface="Open Sans"/>
              </a:rPr>
              <a:t>qué</a:t>
            </a:r>
            <a:r>
              <a:rPr sz="1500" b="1" i="0" dirty="0">
                <a:solidFill>
                  <a:srgbClr val="123A5C"/>
                </a:solidFill>
                <a:latin typeface="Open Sans"/>
              </a:rPr>
              <a:t> La Macarena </a:t>
            </a:r>
            <a:r>
              <a:rPr sz="1500" b="1" i="0" dirty="0" err="1">
                <a:solidFill>
                  <a:srgbClr val="123A5C"/>
                </a:solidFill>
                <a:latin typeface="Open Sans"/>
              </a:rPr>
              <a:t>aparece</a:t>
            </a:r>
            <a:r>
              <a:rPr sz="1500" b="1" i="0" dirty="0">
                <a:solidFill>
                  <a:srgbClr val="123A5C"/>
                </a:solidFill>
                <a:latin typeface="Open Sans"/>
              </a:rPr>
              <a:t> </a:t>
            </a:r>
            <a:r>
              <a:rPr sz="1500" b="1" i="0" dirty="0" err="1">
                <a:solidFill>
                  <a:srgbClr val="123A5C"/>
                </a:solidFill>
                <a:latin typeface="Open Sans"/>
              </a:rPr>
              <a:t>priorizada</a:t>
            </a:r>
            <a:r>
              <a:rPr sz="1500" b="1" i="0" dirty="0">
                <a:solidFill>
                  <a:srgbClr val="123A5C"/>
                </a:solidFill>
                <a:latin typeface="Open Sans"/>
              </a:rPr>
              <a:t>?</a:t>
            </a:r>
          </a:p>
        </p:txBody>
      </p:sp>
      <p:sp>
        <p:nvSpPr>
          <p:cNvPr id="11" name="Rounded Rectangle 10"/>
          <p:cNvSpPr/>
          <p:nvPr/>
        </p:nvSpPr>
        <p:spPr>
          <a:xfrm>
            <a:off x="5989320" y="3232639"/>
            <a:ext cx="5577840" cy="1737360"/>
          </a:xfrm>
          <a:prstGeom prst="roundRect">
            <a:avLst/>
          </a:prstGeom>
          <a:solidFill>
            <a:srgbClr val="FFFFFF"/>
          </a:solidFill>
          <a:ln w="12700">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0" y="3369799"/>
            <a:ext cx="5120640" cy="1508760"/>
          </a:xfrm>
          <a:prstGeom prst="rect">
            <a:avLst/>
          </a:prstGeom>
          <a:noFill/>
        </p:spPr>
        <p:txBody>
          <a:bodyPr wrap="square" lIns="0" tIns="0" rIns="0" bIns="0" anchor="t">
            <a:spAutoFit/>
          </a:bodyPr>
          <a:lstStyle/>
          <a:p>
            <a:r>
              <a:rPr sz="1300" b="1" i="0">
                <a:solidFill>
                  <a:srgbClr val="1B7A46"/>
                </a:solidFill>
                <a:latin typeface="Open Sans"/>
              </a:rPr>
              <a:t>🤖  </a:t>
            </a:r>
            <a:r>
              <a:rPr sz="1550" b="0" i="0">
                <a:solidFill>
                  <a:srgbClr val="22302A"/>
                </a:solidFill>
                <a:latin typeface="Open Sans"/>
              </a:rPr>
              <a:t>Nivel Crítico (score 0.51): pesan una deforestación muy alta (0.97), fuego satelital (0.69) y sensibilidad máxima. Orienta revisión; no prueba causalidad.</a:t>
            </a:r>
          </a:p>
        </p:txBody>
      </p:sp>
      <p:sp>
        <p:nvSpPr>
          <p:cNvPr id="13" name="Rounded Rectangle 12"/>
          <p:cNvSpPr/>
          <p:nvPr/>
        </p:nvSpPr>
        <p:spPr>
          <a:xfrm>
            <a:off x="5989320" y="5152879"/>
            <a:ext cx="5577840" cy="731520"/>
          </a:xfrm>
          <a:prstGeom prst="round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00" b="1" i="0">
                <a:solidFill>
                  <a:srgbClr val="FFFFFF"/>
                </a:solidFill>
                <a:latin typeface="Montserrat"/>
              </a:rPr>
              <a:t>Corre en las NVIDIA L40S del Ministerio · el dato no sale del Estado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12</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EL PRODUCTO</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Una aplicación real,</a:t>
            </a:r>
          </a:p>
          <a:p>
            <a:pPr algn="l">
              <a:lnSpc>
                <a:spcPct val="104000"/>
              </a:lnSpc>
            </a:pPr>
            <a:r>
              <a:rPr sz="3300" b="1" i="0">
                <a:solidFill>
                  <a:srgbClr val="123A5C"/>
                </a:solidFill>
                <a:latin typeface="Montserrat"/>
              </a:rPr>
              <a:t>fácil de usar.</a:t>
            </a:r>
          </a:p>
        </p:txBody>
      </p:sp>
      <p:sp>
        <p:nvSpPr>
          <p:cNvPr id="8" name="TextBox 7"/>
          <p:cNvSpPr txBox="1"/>
          <p:nvPr/>
        </p:nvSpPr>
        <p:spPr>
          <a:xfrm>
            <a:off x="658368" y="2713977"/>
            <a:ext cx="4992623"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Mapa </a:t>
            </a:r>
            <a:r>
              <a:rPr sz="1850" b="0" i="0" dirty="0" err="1">
                <a:solidFill>
                  <a:srgbClr val="22302A"/>
                </a:solidFill>
                <a:latin typeface="Open Sans"/>
              </a:rPr>
              <a:t>nacional</a:t>
            </a:r>
            <a:r>
              <a:rPr sz="1850" b="0" i="0" dirty="0">
                <a:solidFill>
                  <a:srgbClr val="22302A"/>
                </a:solidFill>
                <a:latin typeface="Open Sans"/>
              </a:rPr>
              <a:t> de </a:t>
            </a:r>
            <a:r>
              <a:rPr sz="1850" b="0" i="0" dirty="0" err="1">
                <a:solidFill>
                  <a:srgbClr val="22302A"/>
                </a:solidFill>
                <a:latin typeface="Open Sans"/>
              </a:rPr>
              <a:t>calor</a:t>
            </a:r>
            <a:r>
              <a:rPr sz="1850" b="0" i="0" dirty="0">
                <a:solidFill>
                  <a:srgbClr val="22302A"/>
                </a:solidFill>
                <a:latin typeface="Open Sans"/>
              </a:rPr>
              <a:t>, ranking Top 15 y </a:t>
            </a:r>
            <a:r>
              <a:rPr sz="1850" b="0" i="0" dirty="0" err="1">
                <a:solidFill>
                  <a:srgbClr val="22302A"/>
                </a:solidFill>
                <a:latin typeface="Open Sans"/>
              </a:rPr>
              <a:t>fichas</a:t>
            </a:r>
            <a:r>
              <a:rPr sz="1850" b="0" i="0" dirty="0">
                <a:solidFill>
                  <a:srgbClr val="22302A"/>
                </a:solidFill>
                <a:latin typeface="Open Sans"/>
              </a:rPr>
              <a:t> </a:t>
            </a:r>
            <a:r>
              <a:rPr sz="1850" b="0" i="0" dirty="0" err="1">
                <a:solidFill>
                  <a:srgbClr val="22302A"/>
                </a:solidFill>
                <a:latin typeface="Open Sans"/>
              </a:rPr>
              <a:t>por</a:t>
            </a:r>
            <a:r>
              <a:rPr sz="1850" b="0" i="0" dirty="0">
                <a:solidFill>
                  <a:srgbClr val="22302A"/>
                </a:solidFill>
                <a:latin typeface="Open Sans"/>
              </a:rPr>
              <a:t> municipio.</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En </a:t>
            </a:r>
            <a:r>
              <a:rPr sz="1850" b="0" i="0" dirty="0" err="1">
                <a:solidFill>
                  <a:srgbClr val="22302A"/>
                </a:solidFill>
                <a:latin typeface="Open Sans"/>
              </a:rPr>
              <a:t>menos</a:t>
            </a:r>
            <a:r>
              <a:rPr sz="1850" b="0" i="0" dirty="0">
                <a:solidFill>
                  <a:srgbClr val="22302A"/>
                </a:solidFill>
                <a:latin typeface="Open Sans"/>
              </a:rPr>
              <a:t> de dos </a:t>
            </a:r>
            <a:r>
              <a:rPr sz="1850" b="0" i="0" dirty="0" err="1">
                <a:solidFill>
                  <a:srgbClr val="22302A"/>
                </a:solidFill>
                <a:latin typeface="Open Sans"/>
              </a:rPr>
              <a:t>minutos</a:t>
            </a:r>
            <a:r>
              <a:rPr sz="1850" b="0" i="0" dirty="0">
                <a:solidFill>
                  <a:srgbClr val="22302A"/>
                </a:solidFill>
                <a:latin typeface="Open Sans"/>
              </a:rPr>
              <a:t> </a:t>
            </a:r>
            <a:r>
              <a:rPr sz="1850" b="0" i="0" dirty="0" err="1">
                <a:solidFill>
                  <a:srgbClr val="22302A"/>
                </a:solidFill>
                <a:latin typeface="Open Sans"/>
              </a:rPr>
              <a:t>encuentras</a:t>
            </a:r>
            <a:r>
              <a:rPr sz="1850" b="0" i="0" dirty="0">
                <a:solidFill>
                  <a:srgbClr val="22302A"/>
                </a:solidFill>
                <a:latin typeface="Open Sans"/>
              </a:rPr>
              <a:t> lo </a:t>
            </a:r>
            <a:r>
              <a:rPr sz="1850" b="0" i="0" dirty="0" err="1">
                <a:solidFill>
                  <a:srgbClr val="22302A"/>
                </a:solidFill>
                <a:latin typeface="Open Sans"/>
              </a:rPr>
              <a:t>que</a:t>
            </a:r>
            <a:r>
              <a:rPr sz="1850" b="0" i="0" dirty="0">
                <a:solidFill>
                  <a:srgbClr val="22302A"/>
                </a:solidFill>
                <a:latin typeface="Open Sans"/>
              </a:rPr>
              <a:t> </a:t>
            </a:r>
            <a:r>
              <a:rPr sz="1850" b="0" i="0" dirty="0" err="1">
                <a:solidFill>
                  <a:srgbClr val="22302A"/>
                </a:solidFill>
                <a:latin typeface="Open Sans"/>
              </a:rPr>
              <a:t>necesitas</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Desplegada</a:t>
            </a:r>
            <a:r>
              <a:rPr sz="1850" b="0" i="0" dirty="0">
                <a:solidFill>
                  <a:srgbClr val="22302A"/>
                </a:solidFill>
                <a:latin typeface="Open Sans"/>
              </a:rPr>
              <a:t> y </a:t>
            </a:r>
            <a:r>
              <a:rPr sz="1850" b="0" i="0" dirty="0" err="1">
                <a:solidFill>
                  <a:srgbClr val="22302A"/>
                </a:solidFill>
                <a:latin typeface="Open Sans"/>
              </a:rPr>
              <a:t>navegable</a:t>
            </a:r>
            <a:r>
              <a:rPr sz="1850" b="0" i="0" dirty="0">
                <a:solidFill>
                  <a:srgbClr val="22302A"/>
                </a:solidFill>
                <a:latin typeface="Open Sans"/>
              </a:rPr>
              <a:t> hoy: no es </a:t>
            </a:r>
            <a:r>
              <a:rPr sz="1850" b="0" i="0" dirty="0" err="1">
                <a:solidFill>
                  <a:srgbClr val="22302A"/>
                </a:solidFill>
                <a:latin typeface="Open Sans"/>
              </a:rPr>
              <a:t>una</a:t>
            </a:r>
            <a:r>
              <a:rPr sz="1850" b="0" i="0" dirty="0">
                <a:solidFill>
                  <a:srgbClr val="22302A"/>
                </a:solidFill>
                <a:latin typeface="Open Sans"/>
              </a:rPr>
              <a:t> </a:t>
            </a:r>
            <a:r>
              <a:rPr sz="1850" b="0" i="0" dirty="0" err="1">
                <a:solidFill>
                  <a:srgbClr val="22302A"/>
                </a:solidFill>
                <a:latin typeface="Open Sans"/>
              </a:rPr>
              <a:t>maqueta</a:t>
            </a:r>
            <a:r>
              <a:rPr sz="1850" b="0" i="0" dirty="0">
                <a:solidFill>
                  <a:srgbClr val="22302A"/>
                </a:solidFill>
                <a:latin typeface="Open Sans"/>
              </a:rPr>
              <a:t>.</a:t>
            </a:r>
          </a:p>
        </p:txBody>
      </p:sp>
      <p:pic>
        <p:nvPicPr>
          <p:cNvPr id="9" name="Picture 8" descr="15_app_collage.png"/>
          <p:cNvPicPr>
            <a:picLocks noChangeAspect="1"/>
          </p:cNvPicPr>
          <p:nvPr/>
        </p:nvPicPr>
        <p:blipFill>
          <a:blip r:embed="rId3"/>
          <a:stretch>
            <a:fillRect/>
          </a:stretch>
        </p:blipFill>
        <p:spPr>
          <a:xfrm>
            <a:off x="5955792" y="1981608"/>
            <a:ext cx="5577840" cy="3718560"/>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13</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DEMOSTRACIÓN</a:t>
            </a:r>
          </a:p>
        </p:txBody>
      </p:sp>
      <p:sp>
        <p:nvSpPr>
          <p:cNvPr id="7" name="TextBox 6"/>
          <p:cNvSpPr txBox="1"/>
          <p:nvPr/>
        </p:nvSpPr>
        <p:spPr>
          <a:xfrm>
            <a:off x="658368" y="804672"/>
            <a:ext cx="8046720" cy="500715"/>
          </a:xfrm>
          <a:prstGeom prst="rect">
            <a:avLst/>
          </a:prstGeom>
          <a:noFill/>
        </p:spPr>
        <p:txBody>
          <a:bodyPr wrap="square" lIns="0" tIns="0" rIns="0" bIns="0" anchor="t">
            <a:spAutoFit/>
          </a:bodyPr>
          <a:lstStyle/>
          <a:p>
            <a:pPr algn="l">
              <a:lnSpc>
                <a:spcPct val="104000"/>
              </a:lnSpc>
            </a:pPr>
            <a:r>
              <a:rPr sz="3300" b="1" i="0" dirty="0" err="1">
                <a:solidFill>
                  <a:srgbClr val="123A5C"/>
                </a:solidFill>
                <a:latin typeface="Montserrat"/>
              </a:rPr>
              <a:t>Recorrido</a:t>
            </a:r>
            <a:r>
              <a:rPr sz="3300" b="1" i="0" dirty="0">
                <a:solidFill>
                  <a:srgbClr val="123A5C"/>
                </a:solidFill>
                <a:latin typeface="Montserrat"/>
              </a:rPr>
              <a:t> de </a:t>
            </a:r>
            <a:r>
              <a:rPr lang="es-MX" sz="3300" b="1" dirty="0">
                <a:solidFill>
                  <a:srgbClr val="123A5C"/>
                </a:solidFill>
                <a:latin typeface="Montserrat"/>
              </a:rPr>
              <a:t>la web</a:t>
            </a:r>
            <a:r>
              <a:rPr sz="3300" b="1" i="0" dirty="0">
                <a:solidFill>
                  <a:srgbClr val="123A5C"/>
                </a:solidFill>
                <a:latin typeface="Montserrat"/>
              </a:rPr>
              <a:t>.</a:t>
            </a:r>
          </a:p>
        </p:txBody>
      </p:sp>
      <p:sp>
        <p:nvSpPr>
          <p:cNvPr id="8" name="TextBox 7"/>
          <p:cNvSpPr txBox="1"/>
          <p:nvPr/>
        </p:nvSpPr>
        <p:spPr>
          <a:xfrm>
            <a:off x="624840" y="2749559"/>
            <a:ext cx="4992623" cy="1934953"/>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Mapa → Ranking → </a:t>
            </a:r>
            <a:r>
              <a:rPr sz="1850" b="0" i="0" dirty="0" err="1">
                <a:solidFill>
                  <a:srgbClr val="22302A"/>
                </a:solidFill>
                <a:latin typeface="Open Sans"/>
              </a:rPr>
              <a:t>Ficha</a:t>
            </a:r>
            <a:r>
              <a:rPr sz="1850" b="0" i="0" dirty="0">
                <a:solidFill>
                  <a:srgbClr val="22302A"/>
                </a:solidFill>
                <a:latin typeface="Open Sans"/>
              </a:rPr>
              <a:t> → </a:t>
            </a:r>
            <a:r>
              <a:rPr sz="1850" b="0" i="0" dirty="0" err="1">
                <a:solidFill>
                  <a:srgbClr val="22302A"/>
                </a:solidFill>
                <a:latin typeface="Open Sans"/>
              </a:rPr>
              <a:t>Explicación</a:t>
            </a:r>
            <a:r>
              <a:rPr sz="1850" b="0" i="0" dirty="0">
                <a:solidFill>
                  <a:srgbClr val="22302A"/>
                </a:solidFill>
                <a:latin typeface="Open Sans"/>
              </a:rPr>
              <a:t> → </a:t>
            </a:r>
            <a:r>
              <a:rPr sz="1850" b="0" i="0" dirty="0" err="1">
                <a:solidFill>
                  <a:srgbClr val="22302A"/>
                </a:solidFill>
                <a:latin typeface="Open Sans"/>
              </a:rPr>
              <a:t>Descarga</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Secuencia</a:t>
            </a:r>
            <a:r>
              <a:rPr sz="1850" b="0" i="0" dirty="0">
                <a:solidFill>
                  <a:srgbClr val="22302A"/>
                </a:solidFill>
                <a:latin typeface="Open Sans"/>
              </a:rPr>
              <a:t> </a:t>
            </a:r>
            <a:r>
              <a:rPr sz="1850" b="0" i="0" dirty="0" err="1">
                <a:solidFill>
                  <a:srgbClr val="22302A"/>
                </a:solidFill>
                <a:latin typeface="Open Sans"/>
              </a:rPr>
              <a:t>pensada</a:t>
            </a:r>
            <a:r>
              <a:rPr sz="1850" b="0" i="0" dirty="0">
                <a:solidFill>
                  <a:srgbClr val="22302A"/>
                </a:solidFill>
                <a:latin typeface="Open Sans"/>
              </a:rPr>
              <a:t> para </a:t>
            </a:r>
            <a:r>
              <a:rPr sz="1850" b="0" i="0" dirty="0" err="1">
                <a:solidFill>
                  <a:srgbClr val="22302A"/>
                </a:solidFill>
                <a:latin typeface="Open Sans"/>
              </a:rPr>
              <a:t>mostrar</a:t>
            </a:r>
            <a:r>
              <a:rPr sz="1850" b="0" i="0" dirty="0">
                <a:solidFill>
                  <a:srgbClr val="22302A"/>
                </a:solidFill>
                <a:latin typeface="Open Sans"/>
              </a:rPr>
              <a:t> valor </a:t>
            </a:r>
            <a:r>
              <a:rPr sz="1850" b="0" i="0" dirty="0" err="1">
                <a:solidFill>
                  <a:srgbClr val="22302A"/>
                </a:solidFill>
                <a:latin typeface="Open Sans"/>
              </a:rPr>
              <a:t>rápido</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Con </a:t>
            </a:r>
            <a:r>
              <a:rPr sz="1850" b="0" i="0" dirty="0" err="1">
                <a:solidFill>
                  <a:srgbClr val="22302A"/>
                </a:solidFill>
                <a:latin typeface="Open Sans"/>
              </a:rPr>
              <a:t>respaldo</a:t>
            </a:r>
            <a:r>
              <a:rPr sz="1850" b="0" i="0" dirty="0">
                <a:solidFill>
                  <a:srgbClr val="22302A"/>
                </a:solidFill>
                <a:latin typeface="Open Sans"/>
              </a:rPr>
              <a:t> offline </a:t>
            </a:r>
            <a:r>
              <a:rPr sz="1850" b="0" i="0" dirty="0" err="1">
                <a:solidFill>
                  <a:srgbClr val="22302A"/>
                </a:solidFill>
                <a:latin typeface="Open Sans"/>
              </a:rPr>
              <a:t>por</a:t>
            </a:r>
            <a:r>
              <a:rPr sz="1850" b="0" i="0" dirty="0">
                <a:solidFill>
                  <a:srgbClr val="22302A"/>
                </a:solidFill>
                <a:latin typeface="Open Sans"/>
              </a:rPr>
              <a:t> </a:t>
            </a:r>
            <a:r>
              <a:rPr sz="1850" b="0" i="0" dirty="0" err="1">
                <a:solidFill>
                  <a:srgbClr val="22302A"/>
                </a:solidFill>
                <a:latin typeface="Open Sans"/>
              </a:rPr>
              <a:t>si</a:t>
            </a:r>
            <a:r>
              <a:rPr sz="1850" b="0" i="0" dirty="0">
                <a:solidFill>
                  <a:srgbClr val="22302A"/>
                </a:solidFill>
                <a:latin typeface="Open Sans"/>
              </a:rPr>
              <a:t> </a:t>
            </a:r>
            <a:r>
              <a:rPr sz="1850" b="0" i="0" dirty="0" err="1">
                <a:solidFill>
                  <a:srgbClr val="22302A"/>
                </a:solidFill>
                <a:latin typeface="Open Sans"/>
              </a:rPr>
              <a:t>falla</a:t>
            </a:r>
            <a:r>
              <a:rPr sz="1850" b="0" i="0" dirty="0">
                <a:solidFill>
                  <a:srgbClr val="22302A"/>
                </a:solidFill>
                <a:latin typeface="Open Sans"/>
              </a:rPr>
              <a:t> la </a:t>
            </a:r>
            <a:r>
              <a:rPr sz="1850" b="0" i="0" dirty="0" err="1">
                <a:solidFill>
                  <a:srgbClr val="22302A"/>
                </a:solidFill>
                <a:latin typeface="Open Sans"/>
              </a:rPr>
              <a:t>conexión</a:t>
            </a:r>
            <a:r>
              <a:rPr sz="1850" b="0" i="0" dirty="0">
                <a:solidFill>
                  <a:srgbClr val="22302A"/>
                </a:solidFill>
                <a:latin typeface="Open Sans"/>
              </a:rPr>
              <a:t>.</a:t>
            </a:r>
          </a:p>
        </p:txBody>
      </p:sp>
      <p:pic>
        <p:nvPicPr>
          <p:cNvPr id="9" name="Picture 8" descr="16_demo_backup.png"/>
          <p:cNvPicPr>
            <a:picLocks noChangeAspect="1"/>
          </p:cNvPicPr>
          <p:nvPr/>
        </p:nvPicPr>
        <p:blipFill>
          <a:blip r:embed="rId3"/>
          <a:stretch>
            <a:fillRect/>
          </a:stretch>
        </p:blipFill>
        <p:spPr>
          <a:xfrm>
            <a:off x="5989320" y="2322576"/>
            <a:ext cx="5577840" cy="2788920"/>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202A5F5-532A-1FBF-7CED-D36BFF52C7D4}"/>
              </a:ext>
            </a:extLst>
          </p:cNvPr>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14</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USO INSTITUCIONAL</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Los datos deben fluir:</a:t>
            </a:r>
          </a:p>
          <a:p>
            <a:pPr algn="l">
              <a:lnSpc>
                <a:spcPct val="104000"/>
              </a:lnSpc>
            </a:pPr>
            <a:r>
              <a:rPr sz="3300" b="1" i="0">
                <a:solidFill>
                  <a:srgbClr val="123A5C"/>
                </a:solidFill>
                <a:latin typeface="Montserrat"/>
              </a:rPr>
              <a:t>un clic a Excel o CSV.</a:t>
            </a:r>
          </a:p>
        </p:txBody>
      </p:sp>
      <p:sp>
        <p:nvSpPr>
          <p:cNvPr id="8" name="TextBox 7"/>
          <p:cNvSpPr txBox="1"/>
          <p:nvPr/>
        </p:nvSpPr>
        <p:spPr>
          <a:xfrm>
            <a:off x="627888" y="2726295"/>
            <a:ext cx="5178552" cy="2253822"/>
          </a:xfrm>
          <a:prstGeom prst="rect">
            <a:avLst/>
          </a:prstGeom>
          <a:noFill/>
        </p:spPr>
        <p:txBody>
          <a:bodyPr wrap="square" lIns="0" tIns="0" rIns="0" bIns="0" anchor="t">
            <a:spAutoFit/>
          </a:bodyPr>
          <a:lstStyle/>
          <a:p>
            <a:pPr>
              <a:lnSpc>
                <a:spcPct val="112000"/>
              </a:lnSpc>
              <a:spcAft>
                <a:spcPts val="1400"/>
              </a:spcAft>
            </a:pPr>
            <a:r>
              <a:rPr sz="1100" b="1" i="0">
                <a:solidFill>
                  <a:srgbClr val="1B7A46"/>
                </a:solidFill>
                <a:latin typeface="Open Sans"/>
              </a:rPr>
              <a:t>●  </a:t>
            </a:r>
            <a:r>
              <a:rPr sz="1850" b="0" i="0">
                <a:solidFill>
                  <a:srgbClr val="22302A"/>
                </a:solidFill>
                <a:latin typeface="Open Sans"/>
              </a:rPr>
              <a:t>Cualquier consulta o ranking se descarga al instante.</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Los equipos técnicos lo cruzan con sus reportes internos.</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Orienta la revisión; la decisión final es de la entidad.</a:t>
            </a:r>
          </a:p>
        </p:txBody>
      </p:sp>
      <p:sp>
        <p:nvSpPr>
          <p:cNvPr id="9" name="Rounded Rectangle 8"/>
          <p:cNvSpPr/>
          <p:nvPr/>
        </p:nvSpPr>
        <p:spPr>
          <a:xfrm>
            <a:off x="5989320" y="2253006"/>
            <a:ext cx="5577840" cy="3108960"/>
          </a:xfrm>
          <a:prstGeom prst="roundRect">
            <a:avLst/>
          </a:prstGeom>
          <a:solidFill>
            <a:srgbClr val="FFFFFF"/>
          </a:solidFill>
          <a:ln w="12700">
            <a:solidFill>
              <a:srgbClr val="DDE6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55080" y="2664486"/>
            <a:ext cx="4846320" cy="685800"/>
          </a:xfrm>
          <a:prstGeom prst="roundRect">
            <a:avLst/>
          </a:prstGeom>
          <a:solidFill>
            <a:srgbClr val="E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801646"/>
            <a:ext cx="3200400" cy="457200"/>
          </a:xfrm>
          <a:prstGeom prst="rect">
            <a:avLst/>
          </a:prstGeom>
          <a:noFill/>
        </p:spPr>
        <p:txBody>
          <a:bodyPr wrap="square" lIns="0" tIns="0" rIns="0" bIns="0" anchor="ctr">
            <a:spAutoFit/>
          </a:bodyPr>
          <a:lstStyle/>
          <a:p>
            <a:r>
              <a:rPr sz="1500" b="1" i="0">
                <a:solidFill>
                  <a:srgbClr val="22302A"/>
                </a:solidFill>
                <a:latin typeface="Open Sans"/>
              </a:rPr>
              <a:t>Ranking territorial de priorización</a:t>
            </a:r>
          </a:p>
        </p:txBody>
      </p:sp>
      <p:sp>
        <p:nvSpPr>
          <p:cNvPr id="12" name="Rounded Rectangle 11"/>
          <p:cNvSpPr/>
          <p:nvPr/>
        </p:nvSpPr>
        <p:spPr>
          <a:xfrm>
            <a:off x="9692639" y="2801646"/>
            <a:ext cx="1463040" cy="45720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00" b="1" i="0">
                <a:solidFill>
                  <a:srgbClr val="FFFFFF"/>
                </a:solidFill>
                <a:latin typeface="Montserrat"/>
              </a:rPr>
              <a:t>⬇  Descargar CSV</a:t>
            </a:r>
          </a:p>
        </p:txBody>
      </p:sp>
      <p:sp>
        <p:nvSpPr>
          <p:cNvPr id="13" name="TextBox 12"/>
          <p:cNvSpPr txBox="1"/>
          <p:nvPr/>
        </p:nvSpPr>
        <p:spPr>
          <a:xfrm>
            <a:off x="6400800" y="3670326"/>
            <a:ext cx="4754879" cy="1554480"/>
          </a:xfrm>
          <a:prstGeom prst="rect">
            <a:avLst/>
          </a:prstGeom>
          <a:noFill/>
        </p:spPr>
        <p:txBody>
          <a:bodyPr wrap="square" lIns="0" tIns="0" rIns="0" bIns="0" anchor="t">
            <a:spAutoFit/>
          </a:bodyPr>
          <a:lstStyle/>
          <a:p>
            <a:pPr>
              <a:spcAft>
                <a:spcPts val="800"/>
              </a:spcAft>
            </a:pPr>
            <a:r>
              <a:rPr sz="1300" b="1" i="0" dirty="0">
                <a:solidFill>
                  <a:srgbClr val="1B7A46"/>
                </a:solidFill>
                <a:latin typeface="Open Sans"/>
              </a:rPr>
              <a:t>•  </a:t>
            </a:r>
            <a:r>
              <a:rPr sz="1450" b="0" i="0" dirty="0" err="1">
                <a:solidFill>
                  <a:srgbClr val="22302A"/>
                </a:solidFill>
                <a:latin typeface="Open Sans"/>
              </a:rPr>
              <a:t>Exporta</a:t>
            </a:r>
            <a:r>
              <a:rPr sz="1450" b="0" i="0" dirty="0">
                <a:solidFill>
                  <a:srgbClr val="22302A"/>
                </a:solidFill>
                <a:latin typeface="Open Sans"/>
              </a:rPr>
              <a:t> municipio, </a:t>
            </a:r>
            <a:r>
              <a:rPr sz="1450" b="0" i="0" dirty="0" err="1">
                <a:solidFill>
                  <a:srgbClr val="22302A"/>
                </a:solidFill>
                <a:latin typeface="Open Sans"/>
              </a:rPr>
              <a:t>departamento</a:t>
            </a:r>
            <a:r>
              <a:rPr sz="1450" b="0" i="0" dirty="0">
                <a:solidFill>
                  <a:srgbClr val="22302A"/>
                </a:solidFill>
                <a:latin typeface="Open Sans"/>
              </a:rPr>
              <a:t>, </a:t>
            </a:r>
            <a:r>
              <a:rPr sz="1450" b="0" i="0" dirty="0" err="1">
                <a:solidFill>
                  <a:srgbClr val="22302A"/>
                </a:solidFill>
                <a:latin typeface="Open Sans"/>
              </a:rPr>
              <a:t>nivel</a:t>
            </a:r>
            <a:r>
              <a:rPr sz="1450" b="0" i="0" dirty="0">
                <a:solidFill>
                  <a:srgbClr val="22302A"/>
                </a:solidFill>
                <a:latin typeface="Open Sans"/>
              </a:rPr>
              <a:t>, score e </a:t>
            </a:r>
            <a:r>
              <a:rPr sz="1450" b="0" i="0" dirty="0" err="1">
                <a:solidFill>
                  <a:srgbClr val="22302A"/>
                </a:solidFill>
                <a:latin typeface="Open Sans"/>
              </a:rPr>
              <a:t>índices</a:t>
            </a:r>
            <a:r>
              <a:rPr sz="1450" b="0" i="0" dirty="0">
                <a:solidFill>
                  <a:srgbClr val="22302A"/>
                </a:solidFill>
                <a:latin typeface="Open Sans"/>
              </a:rPr>
              <a:t>.</a:t>
            </a:r>
          </a:p>
          <a:p>
            <a:pPr>
              <a:spcAft>
                <a:spcPts val="800"/>
              </a:spcAft>
            </a:pPr>
            <a:r>
              <a:rPr sz="1300" b="1" i="0" dirty="0">
                <a:solidFill>
                  <a:srgbClr val="1B7A46"/>
                </a:solidFill>
                <a:latin typeface="Open Sans"/>
              </a:rPr>
              <a:t>•  </a:t>
            </a:r>
            <a:r>
              <a:rPr sz="1450" b="0" i="0" dirty="0">
                <a:solidFill>
                  <a:srgbClr val="22302A"/>
                </a:solidFill>
                <a:latin typeface="Open Sans"/>
              </a:rPr>
              <a:t>Consulta </a:t>
            </a:r>
            <a:r>
              <a:rPr sz="1450" b="0" i="0" dirty="0" err="1">
                <a:solidFill>
                  <a:srgbClr val="22302A"/>
                </a:solidFill>
                <a:latin typeface="Open Sans"/>
              </a:rPr>
              <a:t>puntual</a:t>
            </a:r>
            <a:r>
              <a:rPr sz="1450" b="0" i="0" dirty="0">
                <a:solidFill>
                  <a:srgbClr val="22302A"/>
                </a:solidFill>
                <a:latin typeface="Open Sans"/>
              </a:rPr>
              <a:t> </a:t>
            </a:r>
            <a:r>
              <a:rPr sz="1450" b="0" i="0" dirty="0" err="1">
                <a:solidFill>
                  <a:srgbClr val="22302A"/>
                </a:solidFill>
                <a:latin typeface="Open Sans"/>
              </a:rPr>
              <a:t>por</a:t>
            </a:r>
            <a:r>
              <a:rPr sz="1450" b="0" i="0" dirty="0">
                <a:solidFill>
                  <a:srgbClr val="22302A"/>
                </a:solidFill>
                <a:latin typeface="Open Sans"/>
              </a:rPr>
              <a:t> municipio </a:t>
            </a:r>
            <a:r>
              <a:rPr sz="1450" b="0" i="0" dirty="0" err="1">
                <a:solidFill>
                  <a:srgbClr val="22302A"/>
                </a:solidFill>
                <a:latin typeface="Open Sans"/>
              </a:rPr>
              <a:t>en</a:t>
            </a:r>
            <a:r>
              <a:rPr sz="1450" b="0" i="0" dirty="0">
                <a:solidFill>
                  <a:srgbClr val="22302A"/>
                </a:solidFill>
                <a:latin typeface="Open Sans"/>
              </a:rPr>
              <a:t> la </a:t>
            </a:r>
            <a:r>
              <a:rPr sz="1450" b="0" i="0" dirty="0" err="1">
                <a:solidFill>
                  <a:srgbClr val="22302A"/>
                </a:solidFill>
                <a:latin typeface="Open Sans"/>
              </a:rPr>
              <a:t>ficha</a:t>
            </a:r>
            <a:r>
              <a:rPr sz="1450" b="0" i="0" dirty="0">
                <a:solidFill>
                  <a:srgbClr val="22302A"/>
                </a:solidFill>
                <a:latin typeface="Open Sans"/>
              </a:rPr>
              <a:t>.</a:t>
            </a:r>
          </a:p>
          <a:p>
            <a:pPr>
              <a:spcAft>
                <a:spcPts val="800"/>
              </a:spcAft>
            </a:pPr>
            <a:r>
              <a:rPr sz="1300" b="1" i="0" dirty="0">
                <a:solidFill>
                  <a:srgbClr val="1B7A46"/>
                </a:solidFill>
                <a:latin typeface="Open Sans"/>
              </a:rPr>
              <a:t>•  </a:t>
            </a:r>
            <a:r>
              <a:rPr sz="1450" b="0" i="0" dirty="0" err="1">
                <a:solidFill>
                  <a:srgbClr val="22302A"/>
                </a:solidFill>
                <a:latin typeface="Open Sans"/>
              </a:rPr>
              <a:t>Trazabilidad</a:t>
            </a:r>
            <a:r>
              <a:rPr sz="1450" b="0" i="0" dirty="0">
                <a:solidFill>
                  <a:srgbClr val="22302A"/>
                </a:solidFill>
                <a:latin typeface="Open Sans"/>
              </a:rPr>
              <a:t> y </a:t>
            </a:r>
            <a:r>
              <a:rPr sz="1450" b="0" i="0" dirty="0" err="1">
                <a:solidFill>
                  <a:srgbClr val="22302A"/>
                </a:solidFill>
                <a:latin typeface="Open Sans"/>
              </a:rPr>
              <a:t>capacidad</a:t>
            </a:r>
            <a:r>
              <a:rPr sz="1450" b="0" i="0" dirty="0">
                <a:solidFill>
                  <a:srgbClr val="22302A"/>
                </a:solidFill>
                <a:latin typeface="Open Sans"/>
              </a:rPr>
              <a:t> de </a:t>
            </a:r>
            <a:r>
              <a:rPr sz="1450" b="0" i="0" dirty="0" err="1">
                <a:solidFill>
                  <a:srgbClr val="22302A"/>
                </a:solidFill>
                <a:latin typeface="Open Sans"/>
              </a:rPr>
              <a:t>extracción</a:t>
            </a:r>
            <a:r>
              <a:rPr sz="1450" b="0" i="0" dirty="0">
                <a:solidFill>
                  <a:srgbClr val="22302A"/>
                </a:solidFill>
                <a:latin typeface="Open Sans"/>
              </a:rPr>
              <a:t> para el </a:t>
            </a:r>
            <a:r>
              <a:rPr sz="1450" b="0" i="0" dirty="0" err="1">
                <a:solidFill>
                  <a:srgbClr val="22302A"/>
                </a:solidFill>
                <a:latin typeface="Open Sans"/>
              </a:rPr>
              <a:t>equipo</a:t>
            </a:r>
            <a:r>
              <a:rPr sz="1450" b="0" i="0" dirty="0">
                <a:solidFill>
                  <a:srgbClr val="22302A"/>
                </a:solidFill>
                <a:latin typeface="Open Sans"/>
              </a:rPr>
              <a:t> </a:t>
            </a:r>
            <a:r>
              <a:rPr sz="1450" b="0" i="0" dirty="0" err="1">
                <a:solidFill>
                  <a:srgbClr val="22302A"/>
                </a:solidFill>
                <a:latin typeface="Open Sans"/>
              </a:rPr>
              <a:t>técnico</a:t>
            </a:r>
            <a:r>
              <a:rPr sz="1450" b="0" i="0" dirty="0">
                <a:solidFill>
                  <a:srgbClr val="22302A"/>
                </a:solidFill>
                <a:latin typeface="Open Sans"/>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15</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ESTADO</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Auditado y funcionando.</a:t>
            </a:r>
          </a:p>
        </p:txBody>
      </p:sp>
      <p:sp>
        <p:nvSpPr>
          <p:cNvPr id="8" name="Oval 7"/>
          <p:cNvSpPr/>
          <p:nvPr/>
        </p:nvSpPr>
        <p:spPr>
          <a:xfrm>
            <a:off x="731520" y="2468880"/>
            <a:ext cx="457200" cy="457200"/>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487168"/>
            <a:ext cx="365760" cy="411480"/>
          </a:xfrm>
          <a:prstGeom prst="rect">
            <a:avLst/>
          </a:prstGeom>
          <a:noFill/>
        </p:spPr>
        <p:txBody>
          <a:bodyPr wrap="square" lIns="0" tIns="0" rIns="0" bIns="0" anchor="ctr">
            <a:spAutoFit/>
          </a:bodyPr>
          <a:lstStyle/>
          <a:p>
            <a:pPr algn="ctr"/>
            <a:r>
              <a:rPr sz="1700" b="1" i="0">
                <a:solidFill>
                  <a:srgbClr val="FFFFFF"/>
                </a:solidFill>
                <a:latin typeface="Montserrat"/>
              </a:rPr>
              <a:t>✓</a:t>
            </a:r>
          </a:p>
        </p:txBody>
      </p:sp>
      <p:sp>
        <p:nvSpPr>
          <p:cNvPr id="10" name="TextBox 9"/>
          <p:cNvSpPr txBox="1"/>
          <p:nvPr/>
        </p:nvSpPr>
        <p:spPr>
          <a:xfrm>
            <a:off x="1371600" y="2468880"/>
            <a:ext cx="9601200" cy="548640"/>
          </a:xfrm>
          <a:prstGeom prst="rect">
            <a:avLst/>
          </a:prstGeom>
          <a:noFill/>
        </p:spPr>
        <p:txBody>
          <a:bodyPr wrap="square" lIns="0" tIns="0" rIns="0" bIns="0" anchor="ctr">
            <a:spAutoFit/>
          </a:bodyPr>
          <a:lstStyle/>
          <a:p>
            <a:r>
              <a:rPr sz="2000" b="0" i="0">
                <a:solidFill>
                  <a:srgbClr val="22302A"/>
                </a:solidFill>
                <a:latin typeface="Open Sans"/>
              </a:rPr>
              <a:t>Datos reales integrados y reproducibles.</a:t>
            </a:r>
          </a:p>
        </p:txBody>
      </p:sp>
      <p:sp>
        <p:nvSpPr>
          <p:cNvPr id="11" name="Oval 10"/>
          <p:cNvSpPr/>
          <p:nvPr/>
        </p:nvSpPr>
        <p:spPr>
          <a:xfrm>
            <a:off x="731520" y="3182112"/>
            <a:ext cx="457200" cy="457200"/>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200400"/>
            <a:ext cx="365760" cy="411480"/>
          </a:xfrm>
          <a:prstGeom prst="rect">
            <a:avLst/>
          </a:prstGeom>
          <a:noFill/>
        </p:spPr>
        <p:txBody>
          <a:bodyPr wrap="square" lIns="0" tIns="0" rIns="0" bIns="0" anchor="ctr">
            <a:spAutoFit/>
          </a:bodyPr>
          <a:lstStyle/>
          <a:p>
            <a:pPr algn="ctr"/>
            <a:r>
              <a:rPr sz="1700" b="1" i="0">
                <a:solidFill>
                  <a:srgbClr val="FFFFFF"/>
                </a:solidFill>
                <a:latin typeface="Montserrat"/>
              </a:rPr>
              <a:t>✓</a:t>
            </a:r>
          </a:p>
        </p:txBody>
      </p:sp>
      <p:sp>
        <p:nvSpPr>
          <p:cNvPr id="13" name="TextBox 12"/>
          <p:cNvSpPr txBox="1"/>
          <p:nvPr/>
        </p:nvSpPr>
        <p:spPr>
          <a:xfrm>
            <a:off x="1371600" y="3182112"/>
            <a:ext cx="9601200" cy="548640"/>
          </a:xfrm>
          <a:prstGeom prst="rect">
            <a:avLst/>
          </a:prstGeom>
          <a:noFill/>
        </p:spPr>
        <p:txBody>
          <a:bodyPr wrap="square" lIns="0" tIns="0" rIns="0" bIns="0" anchor="ctr">
            <a:spAutoFit/>
          </a:bodyPr>
          <a:lstStyle/>
          <a:p>
            <a:r>
              <a:rPr sz="2000" b="0" i="0">
                <a:solidFill>
                  <a:srgbClr val="22302A"/>
                </a:solidFill>
                <a:latin typeface="Open Sans"/>
              </a:rPr>
              <a:t>Modelo auditable + código abierto en repositorio público.</a:t>
            </a:r>
          </a:p>
        </p:txBody>
      </p:sp>
      <p:sp>
        <p:nvSpPr>
          <p:cNvPr id="14" name="Oval 13"/>
          <p:cNvSpPr/>
          <p:nvPr/>
        </p:nvSpPr>
        <p:spPr>
          <a:xfrm>
            <a:off x="731520" y="3895344"/>
            <a:ext cx="457200" cy="457200"/>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913631"/>
            <a:ext cx="365760" cy="411480"/>
          </a:xfrm>
          <a:prstGeom prst="rect">
            <a:avLst/>
          </a:prstGeom>
          <a:noFill/>
        </p:spPr>
        <p:txBody>
          <a:bodyPr wrap="square" lIns="0" tIns="0" rIns="0" bIns="0" anchor="ctr">
            <a:spAutoFit/>
          </a:bodyPr>
          <a:lstStyle/>
          <a:p>
            <a:pPr algn="ctr"/>
            <a:r>
              <a:rPr sz="1700" b="1" i="0">
                <a:solidFill>
                  <a:srgbClr val="FFFFFF"/>
                </a:solidFill>
                <a:latin typeface="Montserrat"/>
              </a:rPr>
              <a:t>✓</a:t>
            </a:r>
          </a:p>
        </p:txBody>
      </p:sp>
      <p:sp>
        <p:nvSpPr>
          <p:cNvPr id="16" name="TextBox 15"/>
          <p:cNvSpPr txBox="1"/>
          <p:nvPr/>
        </p:nvSpPr>
        <p:spPr>
          <a:xfrm>
            <a:off x="1371600" y="3895344"/>
            <a:ext cx="9601200" cy="548640"/>
          </a:xfrm>
          <a:prstGeom prst="rect">
            <a:avLst/>
          </a:prstGeom>
          <a:noFill/>
        </p:spPr>
        <p:txBody>
          <a:bodyPr wrap="square" lIns="0" tIns="0" rIns="0" bIns="0" anchor="ctr">
            <a:spAutoFit/>
          </a:bodyPr>
          <a:lstStyle/>
          <a:p>
            <a:r>
              <a:rPr sz="2000" b="0" i="0">
                <a:solidFill>
                  <a:srgbClr val="22302A"/>
                </a:solidFill>
                <a:latin typeface="Open Sans"/>
              </a:rPr>
              <a:t>Satélite operando y aplicación desplegada.</a:t>
            </a:r>
          </a:p>
        </p:txBody>
      </p:sp>
      <p:sp>
        <p:nvSpPr>
          <p:cNvPr id="17" name="Oval 16"/>
          <p:cNvSpPr/>
          <p:nvPr/>
        </p:nvSpPr>
        <p:spPr>
          <a:xfrm>
            <a:off x="731520" y="4608576"/>
            <a:ext cx="457200" cy="457200"/>
          </a:xfrm>
          <a:prstGeom prst="ellipse">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626864"/>
            <a:ext cx="365760" cy="411480"/>
          </a:xfrm>
          <a:prstGeom prst="rect">
            <a:avLst/>
          </a:prstGeom>
          <a:noFill/>
        </p:spPr>
        <p:txBody>
          <a:bodyPr wrap="square" lIns="0" tIns="0" rIns="0" bIns="0" anchor="ctr">
            <a:spAutoFit/>
          </a:bodyPr>
          <a:lstStyle/>
          <a:p>
            <a:pPr algn="ctr"/>
            <a:r>
              <a:rPr sz="1700" b="1" i="0">
                <a:solidFill>
                  <a:srgbClr val="FFFFFF"/>
                </a:solidFill>
                <a:latin typeface="Montserrat"/>
              </a:rPr>
              <a:t>✓</a:t>
            </a:r>
          </a:p>
        </p:txBody>
      </p:sp>
      <p:sp>
        <p:nvSpPr>
          <p:cNvPr id="19" name="TextBox 18"/>
          <p:cNvSpPr txBox="1"/>
          <p:nvPr/>
        </p:nvSpPr>
        <p:spPr>
          <a:xfrm>
            <a:off x="1371600" y="4608576"/>
            <a:ext cx="9601200" cy="548640"/>
          </a:xfrm>
          <a:prstGeom prst="rect">
            <a:avLst/>
          </a:prstGeom>
          <a:noFill/>
        </p:spPr>
        <p:txBody>
          <a:bodyPr wrap="square" lIns="0" tIns="0" rIns="0" bIns="0" anchor="ctr">
            <a:spAutoFit/>
          </a:bodyPr>
          <a:lstStyle/>
          <a:p>
            <a:r>
              <a:rPr sz="2000" b="0" i="0">
                <a:solidFill>
                  <a:srgbClr val="22302A"/>
                </a:solidFill>
                <a:latin typeface="Open Sans"/>
              </a:rPr>
              <a:t>16 pruebas automáticas en verde.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16</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RUTA</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Crecimiento comprobable,</a:t>
            </a:r>
          </a:p>
          <a:p>
            <a:pPr algn="l">
              <a:lnSpc>
                <a:spcPct val="104000"/>
              </a:lnSpc>
            </a:pPr>
            <a:r>
              <a:rPr sz="3300" b="1" i="0">
                <a:solidFill>
                  <a:srgbClr val="123A5C"/>
                </a:solidFill>
                <a:latin typeface="Montserrat"/>
              </a:rPr>
              <a:t>sin humo.</a:t>
            </a:r>
          </a:p>
        </p:txBody>
      </p:sp>
      <p:sp>
        <p:nvSpPr>
          <p:cNvPr id="8" name="Rounded Rectangle 7"/>
          <p:cNvSpPr/>
          <p:nvPr/>
        </p:nvSpPr>
        <p:spPr>
          <a:xfrm>
            <a:off x="731520" y="2468880"/>
            <a:ext cx="3520440" cy="3017520"/>
          </a:xfrm>
          <a:prstGeom prst="roundRect">
            <a:avLst/>
          </a:prstGeom>
          <a:solidFill>
            <a:srgbClr val="FFFFFF"/>
          </a:solidFill>
          <a:ln w="19050">
            <a:solidFill>
              <a:srgbClr val="1B7A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2468880"/>
            <a:ext cx="3520440" cy="685800"/>
          </a:xfrm>
          <a:prstGeom prst="round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2578608"/>
            <a:ext cx="3063240" cy="502920"/>
          </a:xfrm>
          <a:prstGeom prst="rect">
            <a:avLst/>
          </a:prstGeom>
          <a:noFill/>
        </p:spPr>
        <p:txBody>
          <a:bodyPr wrap="square" lIns="0" tIns="0" rIns="0" bIns="0" anchor="ctr">
            <a:spAutoFit/>
          </a:bodyPr>
          <a:lstStyle/>
          <a:p>
            <a:r>
              <a:rPr sz="1700" b="1" i="0">
                <a:solidFill>
                  <a:srgbClr val="FFFFFF"/>
                </a:solidFill>
                <a:latin typeface="Montserrat"/>
              </a:rPr>
              <a:t>Hoy · MVP</a:t>
            </a:r>
          </a:p>
        </p:txBody>
      </p:sp>
      <p:sp>
        <p:nvSpPr>
          <p:cNvPr id="11" name="TextBox 10"/>
          <p:cNvSpPr txBox="1"/>
          <p:nvPr/>
        </p:nvSpPr>
        <p:spPr>
          <a:xfrm>
            <a:off x="1005840" y="3383280"/>
            <a:ext cx="2971800" cy="1920240"/>
          </a:xfrm>
          <a:prstGeom prst="rect">
            <a:avLst/>
          </a:prstGeom>
          <a:noFill/>
        </p:spPr>
        <p:txBody>
          <a:bodyPr wrap="square" lIns="0" tIns="0" rIns="0" bIns="0" anchor="t">
            <a:spAutoFit/>
          </a:bodyPr>
          <a:lstStyle/>
          <a:p>
            <a:pPr>
              <a:spcAft>
                <a:spcPts val="1000"/>
              </a:spcAft>
            </a:pPr>
            <a:r>
              <a:rPr sz="1300" b="1" i="0">
                <a:solidFill>
                  <a:srgbClr val="1B7A46"/>
                </a:solidFill>
                <a:latin typeface="Open Sans"/>
              </a:rPr>
              <a:t>•  </a:t>
            </a:r>
            <a:r>
              <a:rPr sz="1500" b="0" i="0">
                <a:solidFill>
                  <a:srgbClr val="22302A"/>
                </a:solidFill>
                <a:latin typeface="Open Sans"/>
              </a:rPr>
              <a:t>Integración municipal</a:t>
            </a:r>
          </a:p>
          <a:p>
            <a:pPr>
              <a:spcAft>
                <a:spcPts val="1000"/>
              </a:spcAft>
            </a:pPr>
            <a:r>
              <a:rPr sz="1300" b="1" i="0">
                <a:solidFill>
                  <a:srgbClr val="1B7A46"/>
                </a:solidFill>
                <a:latin typeface="Open Sans"/>
              </a:rPr>
              <a:t>•  </a:t>
            </a:r>
            <a:r>
              <a:rPr sz="1500" b="0" i="0">
                <a:solidFill>
                  <a:srgbClr val="22302A"/>
                </a:solidFill>
                <a:latin typeface="Open Sans"/>
              </a:rPr>
              <a:t>IA + satélite</a:t>
            </a:r>
          </a:p>
          <a:p>
            <a:pPr>
              <a:spcAft>
                <a:spcPts val="1000"/>
              </a:spcAft>
            </a:pPr>
            <a:r>
              <a:rPr sz="1300" b="1" i="0">
                <a:solidFill>
                  <a:srgbClr val="1B7A46"/>
                </a:solidFill>
                <a:latin typeface="Open Sans"/>
              </a:rPr>
              <a:t>•  </a:t>
            </a:r>
            <a:r>
              <a:rPr sz="1500" b="0" i="0">
                <a:solidFill>
                  <a:srgbClr val="22302A"/>
                </a:solidFill>
                <a:latin typeface="Open Sans"/>
              </a:rPr>
              <a:t>App desplegada</a:t>
            </a:r>
          </a:p>
        </p:txBody>
      </p:sp>
      <p:sp>
        <p:nvSpPr>
          <p:cNvPr id="12" name="Rounded Rectangle 11"/>
          <p:cNvSpPr/>
          <p:nvPr/>
        </p:nvSpPr>
        <p:spPr>
          <a:xfrm>
            <a:off x="4389120" y="2468880"/>
            <a:ext cx="3520440" cy="3017520"/>
          </a:xfrm>
          <a:prstGeom prst="roundRect">
            <a:avLst/>
          </a:prstGeom>
          <a:solidFill>
            <a:srgbClr val="FFFFFF"/>
          </a:solidFill>
          <a:ln w="19050">
            <a:solidFill>
              <a:srgbClr val="123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89120" y="2468880"/>
            <a:ext cx="3520440" cy="68580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2578608"/>
            <a:ext cx="3063240" cy="502920"/>
          </a:xfrm>
          <a:prstGeom prst="rect">
            <a:avLst/>
          </a:prstGeom>
          <a:noFill/>
        </p:spPr>
        <p:txBody>
          <a:bodyPr wrap="square" lIns="0" tIns="0" rIns="0" bIns="0" anchor="ctr">
            <a:spAutoFit/>
          </a:bodyPr>
          <a:lstStyle/>
          <a:p>
            <a:r>
              <a:rPr sz="1700" b="1" i="0">
                <a:solidFill>
                  <a:srgbClr val="FFFFFF"/>
                </a:solidFill>
                <a:latin typeface="Montserrat"/>
              </a:rPr>
              <a:t>Escalamiento</a:t>
            </a:r>
          </a:p>
        </p:txBody>
      </p:sp>
      <p:sp>
        <p:nvSpPr>
          <p:cNvPr id="15" name="TextBox 14"/>
          <p:cNvSpPr txBox="1"/>
          <p:nvPr/>
        </p:nvSpPr>
        <p:spPr>
          <a:xfrm>
            <a:off x="4663440" y="3383280"/>
            <a:ext cx="2971800" cy="1920240"/>
          </a:xfrm>
          <a:prstGeom prst="rect">
            <a:avLst/>
          </a:prstGeom>
          <a:noFill/>
        </p:spPr>
        <p:txBody>
          <a:bodyPr wrap="square" lIns="0" tIns="0" rIns="0" bIns="0" anchor="t">
            <a:spAutoFit/>
          </a:bodyPr>
          <a:lstStyle/>
          <a:p>
            <a:pPr>
              <a:spcAft>
                <a:spcPts val="1000"/>
              </a:spcAft>
            </a:pPr>
            <a:r>
              <a:rPr sz="1300" b="1" i="0">
                <a:solidFill>
                  <a:srgbClr val="123A5C"/>
                </a:solidFill>
                <a:latin typeface="Open Sans"/>
              </a:rPr>
              <a:t>•  </a:t>
            </a:r>
            <a:r>
              <a:rPr sz="1500" b="0" i="0">
                <a:solidFill>
                  <a:srgbClr val="22302A"/>
                </a:solidFill>
                <a:latin typeface="Open Sans"/>
              </a:rPr>
              <a:t>Actualización automática</a:t>
            </a:r>
          </a:p>
          <a:p>
            <a:pPr>
              <a:spcAft>
                <a:spcPts val="1000"/>
              </a:spcAft>
            </a:pPr>
            <a:r>
              <a:rPr sz="1300" b="1" i="0">
                <a:solidFill>
                  <a:srgbClr val="123A5C"/>
                </a:solidFill>
                <a:latin typeface="Open Sans"/>
              </a:rPr>
              <a:t>•  </a:t>
            </a:r>
            <a:r>
              <a:rPr sz="1500" b="0" i="0">
                <a:solidFill>
                  <a:srgbClr val="22302A"/>
                </a:solidFill>
                <a:latin typeface="Open Sans"/>
              </a:rPr>
              <a:t>Históricos por fuente</a:t>
            </a:r>
          </a:p>
          <a:p>
            <a:pPr>
              <a:spcAft>
                <a:spcPts val="1000"/>
              </a:spcAft>
            </a:pPr>
            <a:r>
              <a:rPr sz="1300" b="1" i="0">
                <a:solidFill>
                  <a:srgbClr val="123A5C"/>
                </a:solidFill>
                <a:latin typeface="Open Sans"/>
              </a:rPr>
              <a:t>•  </a:t>
            </a:r>
            <a:r>
              <a:rPr sz="1500" b="0" i="0">
                <a:solidFill>
                  <a:srgbClr val="22302A"/>
                </a:solidFill>
                <a:latin typeface="Open Sans"/>
              </a:rPr>
              <a:t>Más cobertura satelital</a:t>
            </a:r>
          </a:p>
        </p:txBody>
      </p:sp>
      <p:sp>
        <p:nvSpPr>
          <p:cNvPr id="16" name="Rounded Rectangle 15"/>
          <p:cNvSpPr/>
          <p:nvPr/>
        </p:nvSpPr>
        <p:spPr>
          <a:xfrm>
            <a:off x="8046720" y="2468880"/>
            <a:ext cx="3520440" cy="3017520"/>
          </a:xfrm>
          <a:prstGeom prst="roundRect">
            <a:avLst/>
          </a:prstGeom>
          <a:solidFill>
            <a:srgbClr val="FFFFFF"/>
          </a:solidFill>
          <a:ln w="19050">
            <a:solidFill>
              <a:srgbClr val="1453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46720" y="2468880"/>
            <a:ext cx="3520440" cy="685800"/>
          </a:xfrm>
          <a:prstGeom prst="roundRect">
            <a:avLst/>
          </a:prstGeom>
          <a:solidFill>
            <a:srgbClr val="145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20" y="2578608"/>
            <a:ext cx="3063240" cy="502920"/>
          </a:xfrm>
          <a:prstGeom prst="rect">
            <a:avLst/>
          </a:prstGeom>
          <a:noFill/>
        </p:spPr>
        <p:txBody>
          <a:bodyPr wrap="square" lIns="0" tIns="0" rIns="0" bIns="0" anchor="ctr">
            <a:spAutoFit/>
          </a:bodyPr>
          <a:lstStyle/>
          <a:p>
            <a:r>
              <a:rPr sz="1700" b="1" i="0">
                <a:solidFill>
                  <a:srgbClr val="FFFFFF"/>
                </a:solidFill>
                <a:latin typeface="Montserrat"/>
              </a:rPr>
              <a:t>Uso operacional</a:t>
            </a:r>
          </a:p>
        </p:txBody>
      </p:sp>
      <p:sp>
        <p:nvSpPr>
          <p:cNvPr id="19" name="TextBox 18"/>
          <p:cNvSpPr txBox="1"/>
          <p:nvPr/>
        </p:nvSpPr>
        <p:spPr>
          <a:xfrm>
            <a:off x="8321040" y="3383280"/>
            <a:ext cx="2971800" cy="1920240"/>
          </a:xfrm>
          <a:prstGeom prst="rect">
            <a:avLst/>
          </a:prstGeom>
          <a:noFill/>
        </p:spPr>
        <p:txBody>
          <a:bodyPr wrap="square" lIns="0" tIns="0" rIns="0" bIns="0" anchor="t">
            <a:spAutoFit/>
          </a:bodyPr>
          <a:lstStyle/>
          <a:p>
            <a:pPr>
              <a:spcAft>
                <a:spcPts val="1000"/>
              </a:spcAft>
            </a:pPr>
            <a:r>
              <a:rPr sz="1300" b="1" i="0">
                <a:solidFill>
                  <a:srgbClr val="14532D"/>
                </a:solidFill>
                <a:latin typeface="Open Sans"/>
              </a:rPr>
              <a:t>•  </a:t>
            </a:r>
            <a:r>
              <a:rPr sz="1500" b="0" i="0">
                <a:solidFill>
                  <a:srgbClr val="22302A"/>
                </a:solidFill>
                <a:latin typeface="Open Sans"/>
              </a:rPr>
              <a:t>Alertas directas</a:t>
            </a:r>
          </a:p>
          <a:p>
            <a:pPr>
              <a:spcAft>
                <a:spcPts val="1000"/>
              </a:spcAft>
            </a:pPr>
            <a:r>
              <a:rPr sz="1300" b="1" i="0">
                <a:solidFill>
                  <a:srgbClr val="14532D"/>
                </a:solidFill>
                <a:latin typeface="Open Sans"/>
              </a:rPr>
              <a:t>•  </a:t>
            </a:r>
            <a:r>
              <a:rPr sz="1500" b="0" i="0">
                <a:solidFill>
                  <a:srgbClr val="22302A"/>
                </a:solidFill>
                <a:latin typeface="Open Sans"/>
              </a:rPr>
              <a:t>Validación experta</a:t>
            </a:r>
          </a:p>
          <a:p>
            <a:pPr>
              <a:spcAft>
                <a:spcPts val="1000"/>
              </a:spcAft>
            </a:pPr>
            <a:r>
              <a:rPr sz="1300" b="1" i="0">
                <a:solidFill>
                  <a:srgbClr val="14532D"/>
                </a:solidFill>
                <a:latin typeface="Open Sans"/>
              </a:rPr>
              <a:t>•  </a:t>
            </a:r>
            <a:r>
              <a:rPr sz="1500" b="0" i="0">
                <a:solidFill>
                  <a:srgbClr val="22302A"/>
                </a:solidFill>
                <a:latin typeface="Open Sans"/>
              </a:rPr>
              <a:t>Reportes a la autoridad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455664"/>
            <a:ext cx="73152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17</a:t>
            </a:r>
          </a:p>
        </p:txBody>
      </p:sp>
      <p:sp>
        <p:nvSpPr>
          <p:cNvPr id="6" name="TextBox 5"/>
          <p:cNvSpPr txBox="1"/>
          <p:nvPr/>
        </p:nvSpPr>
        <p:spPr>
          <a:xfrm>
            <a:off x="685800" y="384048"/>
            <a:ext cx="7863840" cy="365760"/>
          </a:xfrm>
          <a:prstGeom prst="rect">
            <a:avLst/>
          </a:prstGeom>
          <a:noFill/>
        </p:spPr>
        <p:txBody>
          <a:bodyPr wrap="square" lIns="0" tIns="0" rIns="0" bIns="0" anchor="t">
            <a:spAutoFit/>
          </a:bodyPr>
          <a:lstStyle/>
          <a:p>
            <a:r>
              <a:rPr sz="1250" b="1" i="0" spc="180">
                <a:solidFill>
                  <a:srgbClr val="1B7A46"/>
                </a:solidFill>
                <a:latin typeface="Montserrat"/>
              </a:rPr>
              <a:t>IMPACTO</a:t>
            </a:r>
          </a:p>
        </p:txBody>
      </p:sp>
      <p:sp>
        <p:nvSpPr>
          <p:cNvPr id="7" name="TextBox 6"/>
          <p:cNvSpPr txBox="1"/>
          <p:nvPr/>
        </p:nvSpPr>
        <p:spPr>
          <a:xfrm>
            <a:off x="658368" y="804672"/>
            <a:ext cx="8046720" cy="1463040"/>
          </a:xfrm>
          <a:prstGeom prst="rect">
            <a:avLst/>
          </a:prstGeom>
          <a:noFill/>
        </p:spPr>
        <p:txBody>
          <a:bodyPr wrap="square" lIns="0" tIns="0" rIns="0" bIns="0" anchor="t">
            <a:spAutoFit/>
          </a:bodyPr>
          <a:lstStyle/>
          <a:p>
            <a:pPr algn="l">
              <a:lnSpc>
                <a:spcPct val="104000"/>
              </a:lnSpc>
            </a:pPr>
            <a:r>
              <a:rPr sz="3300" b="1" i="0">
                <a:solidFill>
                  <a:srgbClr val="123A5C"/>
                </a:solidFill>
                <a:latin typeface="Montserrat"/>
              </a:rPr>
              <a:t>Menos revisión manual,</a:t>
            </a:r>
          </a:p>
          <a:p>
            <a:pPr algn="l">
              <a:lnSpc>
                <a:spcPct val="104000"/>
              </a:lnSpc>
            </a:pPr>
            <a:r>
              <a:rPr sz="3300" b="1" i="0">
                <a:solidFill>
                  <a:srgbClr val="123A5C"/>
                </a:solidFill>
                <a:latin typeface="Montserrat"/>
              </a:rPr>
              <a:t>mejor focalización.</a:t>
            </a:r>
          </a:p>
        </p:txBody>
      </p:sp>
      <p:sp>
        <p:nvSpPr>
          <p:cNvPr id="8" name="TextBox 7"/>
          <p:cNvSpPr txBox="1"/>
          <p:nvPr/>
        </p:nvSpPr>
        <p:spPr>
          <a:xfrm>
            <a:off x="658368" y="2930794"/>
            <a:ext cx="4992623" cy="2253822"/>
          </a:xfrm>
          <a:prstGeom prst="rect">
            <a:avLst/>
          </a:prstGeom>
          <a:noFill/>
        </p:spPr>
        <p:txBody>
          <a:bodyPr wrap="square" lIns="0" tIns="0" rIns="0" bIns="0" anchor="t">
            <a:spAutoFit/>
          </a:bodyPr>
          <a:lstStyle/>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Reduce </a:t>
            </a:r>
            <a:r>
              <a:rPr sz="1850" b="0" i="0" dirty="0" err="1">
                <a:solidFill>
                  <a:srgbClr val="22302A"/>
                </a:solidFill>
                <a:latin typeface="Open Sans"/>
              </a:rPr>
              <a:t>drásticamente</a:t>
            </a:r>
            <a:r>
              <a:rPr sz="1850" b="0" i="0" dirty="0">
                <a:solidFill>
                  <a:srgbClr val="22302A"/>
                </a:solidFill>
                <a:latin typeface="Open Sans"/>
              </a:rPr>
              <a:t> las horas de </a:t>
            </a:r>
            <a:r>
              <a:rPr sz="1850" b="0" i="0" dirty="0" err="1">
                <a:solidFill>
                  <a:srgbClr val="22302A"/>
                </a:solidFill>
                <a:latin typeface="Open Sans"/>
              </a:rPr>
              <a:t>revisión</a:t>
            </a:r>
            <a:r>
              <a:rPr sz="1850" b="0" i="0" dirty="0">
                <a:solidFill>
                  <a:srgbClr val="22302A"/>
                </a:solidFill>
                <a:latin typeface="Open Sans"/>
              </a:rPr>
              <a:t> manual.</a:t>
            </a:r>
          </a:p>
          <a:p>
            <a:pPr>
              <a:lnSpc>
                <a:spcPct val="112000"/>
              </a:lnSpc>
              <a:spcAft>
                <a:spcPts val="1400"/>
              </a:spcAft>
            </a:pPr>
            <a:r>
              <a:rPr sz="1100" b="1" i="0" dirty="0">
                <a:solidFill>
                  <a:srgbClr val="1B7A46"/>
                </a:solidFill>
                <a:latin typeface="Open Sans"/>
              </a:rPr>
              <a:t>●  </a:t>
            </a:r>
            <a:r>
              <a:rPr sz="1850" b="0" i="0" dirty="0" err="1">
                <a:solidFill>
                  <a:srgbClr val="22302A"/>
                </a:solidFill>
                <a:latin typeface="Open Sans"/>
              </a:rPr>
              <a:t>Enfoca</a:t>
            </a:r>
            <a:r>
              <a:rPr sz="1850" b="0" i="0" dirty="0">
                <a:solidFill>
                  <a:srgbClr val="22302A"/>
                </a:solidFill>
                <a:latin typeface="Open Sans"/>
              </a:rPr>
              <a:t> </a:t>
            </a:r>
            <a:r>
              <a:rPr sz="1850" b="0" i="0" dirty="0" err="1">
                <a:solidFill>
                  <a:srgbClr val="22302A"/>
                </a:solidFill>
                <a:latin typeface="Open Sans"/>
              </a:rPr>
              <a:t>los</a:t>
            </a:r>
            <a:r>
              <a:rPr sz="1850" b="0" i="0" dirty="0">
                <a:solidFill>
                  <a:srgbClr val="22302A"/>
                </a:solidFill>
                <a:latin typeface="Open Sans"/>
              </a:rPr>
              <a:t> </a:t>
            </a:r>
            <a:r>
              <a:rPr sz="1850" b="0" i="0" dirty="0" err="1">
                <a:solidFill>
                  <a:srgbClr val="22302A"/>
                </a:solidFill>
                <a:latin typeface="Open Sans"/>
              </a:rPr>
              <a:t>recursos</a:t>
            </a:r>
            <a:r>
              <a:rPr sz="1850" b="0" i="0" dirty="0">
                <a:solidFill>
                  <a:srgbClr val="22302A"/>
                </a:solidFill>
                <a:latin typeface="Open Sans"/>
              </a:rPr>
              <a:t> del Estado </a:t>
            </a:r>
            <a:r>
              <a:rPr sz="1850" b="0" i="0" dirty="0" err="1">
                <a:solidFill>
                  <a:srgbClr val="22302A"/>
                </a:solidFill>
                <a:latin typeface="Open Sans"/>
              </a:rPr>
              <a:t>donde</a:t>
            </a:r>
            <a:r>
              <a:rPr sz="1850" b="0" i="0" dirty="0">
                <a:solidFill>
                  <a:srgbClr val="22302A"/>
                </a:solidFill>
                <a:latin typeface="Open Sans"/>
              </a:rPr>
              <a:t> </a:t>
            </a:r>
            <a:r>
              <a:rPr sz="1850" b="0" i="0" dirty="0" err="1">
                <a:solidFill>
                  <a:srgbClr val="22302A"/>
                </a:solidFill>
                <a:latin typeface="Open Sans"/>
              </a:rPr>
              <a:t>más</a:t>
            </a:r>
            <a:r>
              <a:rPr sz="1850" b="0" i="0" dirty="0">
                <a:solidFill>
                  <a:srgbClr val="22302A"/>
                </a:solidFill>
                <a:latin typeface="Open Sans"/>
              </a:rPr>
              <a:t> se </a:t>
            </a:r>
            <a:r>
              <a:rPr sz="1850" b="0" i="0" dirty="0" err="1">
                <a:solidFill>
                  <a:srgbClr val="22302A"/>
                </a:solidFill>
                <a:latin typeface="Open Sans"/>
              </a:rPr>
              <a:t>necesitan</a:t>
            </a:r>
            <a:r>
              <a:rPr sz="1850" b="0" i="0" dirty="0">
                <a:solidFill>
                  <a:srgbClr val="22302A"/>
                </a:solidFill>
                <a:latin typeface="Open Sans"/>
              </a:rPr>
              <a:t>.</a:t>
            </a:r>
          </a:p>
          <a:p>
            <a:pPr>
              <a:lnSpc>
                <a:spcPct val="112000"/>
              </a:lnSpc>
              <a:spcAft>
                <a:spcPts val="1400"/>
              </a:spcAft>
            </a:pPr>
            <a:r>
              <a:rPr sz="1100" b="1" i="0" dirty="0">
                <a:solidFill>
                  <a:srgbClr val="1B7A46"/>
                </a:solidFill>
                <a:latin typeface="Open Sans"/>
              </a:rPr>
              <a:t>●  </a:t>
            </a:r>
            <a:r>
              <a:rPr sz="1850" b="0" i="0" dirty="0">
                <a:solidFill>
                  <a:srgbClr val="22302A"/>
                </a:solidFill>
                <a:latin typeface="Open Sans"/>
              </a:rPr>
              <a:t>Base para </a:t>
            </a:r>
            <a:r>
              <a:rPr sz="1850" b="0" i="0" dirty="0" err="1">
                <a:solidFill>
                  <a:srgbClr val="22302A"/>
                </a:solidFill>
                <a:latin typeface="Open Sans"/>
              </a:rPr>
              <a:t>priorizar</a:t>
            </a:r>
            <a:r>
              <a:rPr sz="1850" b="0" i="0" dirty="0">
                <a:solidFill>
                  <a:srgbClr val="22302A"/>
                </a:solidFill>
                <a:latin typeface="Open Sans"/>
              </a:rPr>
              <a:t> </a:t>
            </a:r>
            <a:r>
              <a:rPr sz="1850" b="0" i="0" dirty="0" err="1">
                <a:solidFill>
                  <a:srgbClr val="22302A"/>
                </a:solidFill>
                <a:latin typeface="Open Sans"/>
              </a:rPr>
              <a:t>Amazonía</a:t>
            </a:r>
            <a:r>
              <a:rPr sz="1850" b="0" i="0" dirty="0">
                <a:solidFill>
                  <a:srgbClr val="22302A"/>
                </a:solidFill>
                <a:latin typeface="Open Sans"/>
              </a:rPr>
              <a:t>, </a:t>
            </a:r>
            <a:r>
              <a:rPr sz="1850" b="0" i="0" dirty="0" err="1">
                <a:solidFill>
                  <a:srgbClr val="22302A"/>
                </a:solidFill>
                <a:latin typeface="Open Sans"/>
              </a:rPr>
              <a:t>Orinoquía</a:t>
            </a:r>
            <a:r>
              <a:rPr sz="1850" b="0" i="0" dirty="0">
                <a:solidFill>
                  <a:srgbClr val="22302A"/>
                </a:solidFill>
                <a:latin typeface="Open Sans"/>
              </a:rPr>
              <a:t> y </a:t>
            </a:r>
            <a:r>
              <a:rPr sz="1850" b="0" i="0" dirty="0" err="1">
                <a:solidFill>
                  <a:srgbClr val="22302A"/>
                </a:solidFill>
                <a:latin typeface="Open Sans"/>
              </a:rPr>
              <a:t>Pacífico</a:t>
            </a:r>
            <a:r>
              <a:rPr sz="1850" b="0" i="0" dirty="0">
                <a:solidFill>
                  <a:srgbClr val="22302A"/>
                </a:solidFill>
                <a:latin typeface="Open Sans"/>
              </a:rPr>
              <a:t>.</a:t>
            </a:r>
          </a:p>
        </p:txBody>
      </p:sp>
      <p:pic>
        <p:nvPicPr>
          <p:cNvPr id="9" name="Picture 8" descr="02_mapa_cobertura.png"/>
          <p:cNvPicPr>
            <a:picLocks noChangeAspect="1"/>
          </p:cNvPicPr>
          <p:nvPr/>
        </p:nvPicPr>
        <p:blipFill>
          <a:blip r:embed="rId3"/>
          <a:stretch>
            <a:fillRect/>
          </a:stretch>
        </p:blipFill>
        <p:spPr>
          <a:xfrm>
            <a:off x="5989320" y="2098037"/>
            <a:ext cx="5577840" cy="3585754"/>
          </a:xfrm>
          <a:prstGeom prst="roundRect">
            <a:avLst>
              <a:gd name="adj" fmla="val 4200"/>
            </a:avLst>
          </a:prstGeom>
          <a:effectLst>
            <a:outerShdw blurRad="90000" dist="38100" dir="5400000" rotWithShape="0">
              <a:srgbClr val="0B1F17">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37376"/>
            <a:ext cx="640080" cy="274320"/>
          </a:xfrm>
          <a:prstGeom prst="rect">
            <a:avLst/>
          </a:prstGeom>
          <a:noFill/>
        </p:spPr>
        <p:txBody>
          <a:bodyPr wrap="square" lIns="0" tIns="0" rIns="0" bIns="0" anchor="t">
            <a:spAutoFit/>
          </a:bodyPr>
          <a:lstStyle/>
          <a:p>
            <a:pPr algn="r"/>
            <a:r>
              <a:rPr sz="1000" b="1" i="0">
                <a:solidFill>
                  <a:srgbClr val="5B6B62"/>
                </a:solidFill>
                <a:latin typeface="Montserrat"/>
              </a:rPr>
              <a:t>18</a:t>
            </a:r>
          </a:p>
        </p:txBody>
      </p:sp>
      <p:sp>
        <p:nvSpPr>
          <p:cNvPr id="6" name="TextBox 5"/>
          <p:cNvSpPr txBox="1"/>
          <p:nvPr/>
        </p:nvSpPr>
        <p:spPr>
          <a:xfrm>
            <a:off x="658368" y="1828800"/>
            <a:ext cx="7498079" cy="2011680"/>
          </a:xfrm>
          <a:prstGeom prst="rect">
            <a:avLst/>
          </a:prstGeom>
          <a:noFill/>
        </p:spPr>
        <p:txBody>
          <a:bodyPr wrap="square" lIns="0" tIns="0" rIns="0" bIns="0" anchor="t">
            <a:spAutoFit/>
          </a:bodyPr>
          <a:lstStyle/>
          <a:p>
            <a:r>
              <a:rPr sz="3800" b="1" i="0">
                <a:solidFill>
                  <a:srgbClr val="123A5C"/>
                </a:solidFill>
                <a:latin typeface="Montserrat"/>
              </a:rPr>
              <a:t>Datos dispersos,</a:t>
            </a:r>
          </a:p>
          <a:p>
            <a:r>
              <a:rPr sz="3800" b="1" i="0">
                <a:solidFill>
                  <a:srgbClr val="1B7A46"/>
                </a:solidFill>
                <a:latin typeface="Montserrat"/>
              </a:rPr>
              <a:t>decisiones estratégicas.</a:t>
            </a:r>
          </a:p>
        </p:txBody>
      </p:sp>
      <p:sp>
        <p:nvSpPr>
          <p:cNvPr id="7" name="TextBox 6"/>
          <p:cNvSpPr txBox="1"/>
          <p:nvPr/>
        </p:nvSpPr>
        <p:spPr>
          <a:xfrm>
            <a:off x="658368" y="4352544"/>
            <a:ext cx="6346596" cy="815544"/>
          </a:xfrm>
          <a:prstGeom prst="rect">
            <a:avLst/>
          </a:prstGeom>
          <a:noFill/>
        </p:spPr>
        <p:txBody>
          <a:bodyPr wrap="square" lIns="0" tIns="0" rIns="0" bIns="0" anchor="t">
            <a:spAutoFit/>
          </a:bodyPr>
          <a:lstStyle/>
          <a:p>
            <a:pPr>
              <a:lnSpc>
                <a:spcPct val="112000"/>
              </a:lnSpc>
              <a:spcAft>
                <a:spcPts val="1400"/>
              </a:spcAft>
            </a:pPr>
            <a:r>
              <a:rPr sz="1100" b="1" i="0">
                <a:solidFill>
                  <a:srgbClr val="1B7A46"/>
                </a:solidFill>
                <a:latin typeface="Open Sans"/>
              </a:rPr>
              <a:t>●  </a:t>
            </a:r>
            <a:r>
              <a:rPr sz="1900" b="0" i="0">
                <a:solidFill>
                  <a:srgbClr val="22302A"/>
                </a:solidFill>
                <a:latin typeface="Open Sans"/>
              </a:rPr>
              <a:t>Producto real, escalable y con soberanía del dato.</a:t>
            </a:r>
          </a:p>
          <a:p>
            <a:pPr>
              <a:lnSpc>
                <a:spcPct val="112000"/>
              </a:lnSpc>
              <a:spcAft>
                <a:spcPts val="1400"/>
              </a:spcAft>
            </a:pPr>
            <a:r>
              <a:rPr sz="1100" b="1" i="0">
                <a:solidFill>
                  <a:srgbClr val="1B7A46"/>
                </a:solidFill>
                <a:latin typeface="Open Sans"/>
              </a:rPr>
              <a:t>●  </a:t>
            </a:r>
            <a:r>
              <a:rPr sz="1900" b="0" i="0">
                <a:solidFill>
                  <a:srgbClr val="22302A"/>
                </a:solidFill>
                <a:latin typeface="Open Sans"/>
              </a:rPr>
              <a:t>Listo para transformar la gestión ambiental del Estado.</a:t>
            </a:r>
          </a:p>
        </p:txBody>
      </p:sp>
      <p:sp>
        <p:nvSpPr>
          <p:cNvPr id="8" name="TextBox 7"/>
          <p:cNvSpPr txBox="1"/>
          <p:nvPr/>
        </p:nvSpPr>
        <p:spPr>
          <a:xfrm>
            <a:off x="713232" y="5394960"/>
            <a:ext cx="5486400" cy="548640"/>
          </a:xfrm>
          <a:prstGeom prst="rect">
            <a:avLst/>
          </a:prstGeom>
          <a:noFill/>
        </p:spPr>
        <p:txBody>
          <a:bodyPr wrap="square" lIns="0" tIns="0" rIns="0" bIns="0" anchor="t">
            <a:spAutoFit/>
          </a:bodyPr>
          <a:lstStyle/>
          <a:p>
            <a:r>
              <a:rPr sz="2400" b="1" i="0">
                <a:solidFill>
                  <a:srgbClr val="14532D"/>
                </a:solidFill>
                <a:latin typeface="Montserrat"/>
              </a:rPr>
              <a:t>Muchas gracias.</a:t>
            </a:r>
          </a:p>
        </p:txBody>
      </p:sp>
      <p:pic>
        <p:nvPicPr>
          <p:cNvPr id="9" name="Picture 8" descr="qr_demo.png"/>
          <p:cNvPicPr>
            <a:picLocks noChangeAspect="1"/>
          </p:cNvPicPr>
          <p:nvPr/>
        </p:nvPicPr>
        <p:blipFill>
          <a:blip r:embed="rId3"/>
          <a:stretch>
            <a:fillRect/>
          </a:stretch>
        </p:blipFill>
        <p:spPr>
          <a:xfrm>
            <a:off x="8961120" y="4297680"/>
            <a:ext cx="1280160" cy="1280160"/>
          </a:xfrm>
          <a:prstGeom prst="roundRect">
            <a:avLst>
              <a:gd name="adj" fmla="val 1200"/>
            </a:avLst>
          </a:prstGeom>
          <a:effectLst>
            <a:outerShdw blurRad="90000" dist="38100" dir="5400000" rotWithShape="0">
              <a:srgbClr val="0B1F17">
                <a:alpha val="20000"/>
              </a:srgbClr>
            </a:outerShdw>
          </a:effectLst>
        </p:spPr>
      </p:pic>
      <p:sp>
        <p:nvSpPr>
          <p:cNvPr id="10" name="TextBox 9"/>
          <p:cNvSpPr txBox="1"/>
          <p:nvPr/>
        </p:nvSpPr>
        <p:spPr>
          <a:xfrm>
            <a:off x="8961120" y="5623560"/>
            <a:ext cx="1280160" cy="274320"/>
          </a:xfrm>
          <a:prstGeom prst="rect">
            <a:avLst/>
          </a:prstGeom>
          <a:noFill/>
        </p:spPr>
        <p:txBody>
          <a:bodyPr wrap="square" lIns="0" tIns="0" rIns="0" bIns="0" anchor="t">
            <a:spAutoFit/>
          </a:bodyPr>
          <a:lstStyle/>
          <a:p>
            <a:pPr algn="ctr"/>
            <a:r>
              <a:rPr sz="1200" b="0" i="0">
                <a:solidFill>
                  <a:srgbClr val="5B6B62"/>
                </a:solidFill>
                <a:latin typeface="Open Sans"/>
              </a:rPr>
              <a:t>Demo</a:t>
            </a:r>
          </a:p>
        </p:txBody>
      </p:sp>
      <p:pic>
        <p:nvPicPr>
          <p:cNvPr id="11" name="Picture 10" descr="qr_repo.png"/>
          <p:cNvPicPr>
            <a:picLocks noChangeAspect="1"/>
          </p:cNvPicPr>
          <p:nvPr/>
        </p:nvPicPr>
        <p:blipFill>
          <a:blip r:embed="rId4"/>
          <a:stretch>
            <a:fillRect/>
          </a:stretch>
        </p:blipFill>
        <p:spPr>
          <a:xfrm>
            <a:off x="10515600" y="4297680"/>
            <a:ext cx="1280160" cy="1280160"/>
          </a:xfrm>
          <a:prstGeom prst="roundRect">
            <a:avLst>
              <a:gd name="adj" fmla="val 1200"/>
            </a:avLst>
          </a:prstGeom>
          <a:effectLst>
            <a:outerShdw blurRad="90000" dist="38100" dir="5400000" rotWithShape="0">
              <a:srgbClr val="0B1F17">
                <a:alpha val="20000"/>
              </a:srgbClr>
            </a:outerShdw>
          </a:effectLst>
        </p:spPr>
      </p:pic>
      <p:sp>
        <p:nvSpPr>
          <p:cNvPr id="12" name="TextBox 11"/>
          <p:cNvSpPr txBox="1"/>
          <p:nvPr/>
        </p:nvSpPr>
        <p:spPr>
          <a:xfrm>
            <a:off x="10515600" y="5623560"/>
            <a:ext cx="1280160" cy="274320"/>
          </a:xfrm>
          <a:prstGeom prst="rect">
            <a:avLst/>
          </a:prstGeom>
          <a:noFill/>
        </p:spPr>
        <p:txBody>
          <a:bodyPr wrap="square" lIns="0" tIns="0" rIns="0" bIns="0" anchor="t">
            <a:spAutoFit/>
          </a:bodyPr>
          <a:lstStyle/>
          <a:p>
            <a:pPr algn="ctr"/>
            <a:r>
              <a:rPr sz="1200" b="0" i="0">
                <a:solidFill>
                  <a:srgbClr val="5B6B62"/>
                </a:solidFill>
                <a:latin typeface="Open Sans"/>
              </a:rPr>
              <a:t>Repo</a:t>
            </a:r>
          </a:p>
        </p:txBody>
      </p:sp>
      <p:sp>
        <p:nvSpPr>
          <p:cNvPr id="13" name="TextBox 12"/>
          <p:cNvSpPr txBox="1"/>
          <p:nvPr/>
        </p:nvSpPr>
        <p:spPr>
          <a:xfrm>
            <a:off x="685800" y="6455664"/>
            <a:ext cx="8229600" cy="274320"/>
          </a:xfrm>
          <a:prstGeom prst="rect">
            <a:avLst/>
          </a:prstGeom>
          <a:noFill/>
        </p:spPr>
        <p:txBody>
          <a:bodyPr wrap="square" lIns="0" tIns="0" rIns="0" bIns="0" anchor="t">
            <a:spAutoFit/>
          </a:bodyPr>
          <a:lstStyle/>
          <a:p>
            <a:r>
              <a:rPr sz="1000" b="0" i="0">
                <a:solidFill>
                  <a:srgbClr val="5B6B62"/>
                </a:solidFill>
                <a:latin typeface="Open Sans"/>
              </a:rPr>
              <a:t>Ministerio de Minas y Energía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B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455664"/>
            <a:ext cx="7315200" cy="274320"/>
          </a:xfrm>
          <a:prstGeom prst="rect">
            <a:avLst/>
          </a:prstGeom>
          <a:noFill/>
        </p:spPr>
        <p:txBody>
          <a:bodyPr wrap="square" anchor="t" lIns="0" rIns="0" tIns="0" bIns="0">
            <a:spAutoFit/>
          </a:bodyPr>
          <a:lstStyle/>
          <a:p>
            <a:r>
              <a:rPr sz="1000" b="0" i="0">
                <a:solidFill>
                  <a:srgbClr val="5B6B62"/>
                </a:solidFill>
                <a:latin typeface="Open Sans"/>
              </a:rPr>
              <a:t>Ministerio de Minas y Energía</a:t>
            </a:r>
          </a:p>
        </p:txBody>
      </p:sp>
      <p:sp>
        <p:nvSpPr>
          <p:cNvPr id="5" name="TextBox 4"/>
          <p:cNvSpPr txBox="1"/>
          <p:nvPr/>
        </p:nvSpPr>
        <p:spPr>
          <a:xfrm>
            <a:off x="11338560" y="6437376"/>
            <a:ext cx="640080" cy="274320"/>
          </a:xfrm>
          <a:prstGeom prst="rect">
            <a:avLst/>
          </a:prstGeom>
          <a:noFill/>
        </p:spPr>
        <p:txBody>
          <a:bodyPr wrap="square" anchor="t" lIns="0" rIns="0" tIns="0" bIns="0">
            <a:spAutoFit/>
          </a:bodyPr>
          <a:lstStyle/>
          <a:p>
            <a:pPr algn="r"/>
            <a:r>
              <a:rPr sz="1000" b="1" i="0">
                <a:solidFill>
                  <a:srgbClr val="5B6B62"/>
                </a:solidFill>
                <a:latin typeface="Montserrat"/>
              </a:rPr>
              <a:t>8</a:t>
            </a:r>
          </a:p>
        </p:txBody>
      </p:sp>
      <p:sp>
        <p:nvSpPr>
          <p:cNvPr id="6" name="TextBox 5"/>
          <p:cNvSpPr txBox="1"/>
          <p:nvPr/>
        </p:nvSpPr>
        <p:spPr>
          <a:xfrm>
            <a:off x="685800" y="384048"/>
            <a:ext cx="7863840" cy="365760"/>
          </a:xfrm>
          <a:prstGeom prst="rect">
            <a:avLst/>
          </a:prstGeom>
          <a:noFill/>
        </p:spPr>
        <p:txBody>
          <a:bodyPr wrap="square" anchor="t" lIns="0" rIns="0" tIns="0" bIns="0">
            <a:spAutoFit/>
          </a:bodyPr>
          <a:lstStyle/>
          <a:p>
            <a:r>
              <a:rPr sz="1250" b="1" i="0" spc="180">
                <a:solidFill>
                  <a:srgbClr val="1B7A46"/>
                </a:solidFill>
                <a:latin typeface="Montserrat"/>
              </a:rPr>
              <a:t>RIGOR AVANZADO</a:t>
            </a:r>
          </a:p>
        </p:txBody>
      </p:sp>
      <p:sp>
        <p:nvSpPr>
          <p:cNvPr id="7" name="TextBox 6"/>
          <p:cNvSpPr txBox="1"/>
          <p:nvPr/>
        </p:nvSpPr>
        <p:spPr>
          <a:xfrm>
            <a:off x="658368" y="804672"/>
            <a:ext cx="8046720" cy="1463040"/>
          </a:xfrm>
          <a:prstGeom prst="rect">
            <a:avLst/>
          </a:prstGeom>
          <a:noFill/>
        </p:spPr>
        <p:txBody>
          <a:bodyPr wrap="square" anchor="t" lIns="0" rIns="0" tIns="0" bIns="0">
            <a:spAutoFit/>
          </a:bodyPr>
          <a:lstStyle/>
          <a:p>
            <a:pPr algn="l">
              <a:lnSpc>
                <a:spcPct val="104000"/>
              </a:lnSpc>
            </a:pPr>
            <a:r>
              <a:rPr sz="3300" b="1" i="0">
                <a:solidFill>
                  <a:srgbClr val="123A5C"/>
                </a:solidFill>
                <a:latin typeface="Montserrat"/>
              </a:rPr>
              <a:t>Confianza con garantía</a:t>
            </a:r>
          </a:p>
          <a:p>
            <a:pPr algn="l">
              <a:lnSpc>
                <a:spcPct val="104000"/>
              </a:lnSpc>
            </a:pPr>
            <a:r>
              <a:rPr sz="3300" b="1" i="0">
                <a:solidFill>
                  <a:srgbClr val="123A5C"/>
                </a:solidFill>
                <a:latin typeface="Montserrat"/>
              </a:rPr>
              <a:t>matemática.</a:t>
            </a:r>
          </a:p>
        </p:txBody>
      </p:sp>
      <p:sp>
        <p:nvSpPr>
          <p:cNvPr id="8" name="TextBox 7"/>
          <p:cNvSpPr txBox="1"/>
          <p:nvPr/>
        </p:nvSpPr>
        <p:spPr>
          <a:xfrm>
            <a:off x="713232" y="2468880"/>
            <a:ext cx="5029200" cy="4206240"/>
          </a:xfrm>
          <a:prstGeom prst="rect">
            <a:avLst/>
          </a:prstGeom>
          <a:noFill/>
        </p:spPr>
        <p:txBody>
          <a:bodyPr wrap="square" anchor="t" lIns="0" rIns="0" tIns="0" bIns="0">
            <a:spAutoFit/>
          </a:bodyPr>
          <a:lstStyle/>
          <a:p>
            <a:pPr>
              <a:lnSpc>
                <a:spcPct val="112000"/>
              </a:lnSpc>
              <a:spcAft>
                <a:spcPts val="1400"/>
              </a:spcAft>
            </a:pPr>
            <a:r>
              <a:rPr sz="1100" b="1" i="0">
                <a:solidFill>
                  <a:srgbClr val="1B7A46"/>
                </a:solidFill>
                <a:latin typeface="Open Sans"/>
              </a:rPr>
              <a:t>●  </a:t>
            </a:r>
            <a:r>
              <a:rPr sz="1850" b="0" i="0">
                <a:solidFill>
                  <a:srgbClr val="22302A"/>
                </a:solidFill>
                <a:latin typeface="Open Sans"/>
              </a:rPr>
              <a:t>Conformal prediction: garantizamos el nivel real con 90% de cobertura (91.4% verificado).</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Detección de anomalías: confirma 43 municipios y revela 14 atípicos que el índice no ve.</a:t>
            </a:r>
          </a:p>
          <a:p>
            <a:pPr>
              <a:lnSpc>
                <a:spcPct val="112000"/>
              </a:lnSpc>
              <a:spcAft>
                <a:spcPts val="1400"/>
              </a:spcAft>
            </a:pPr>
            <a:r>
              <a:rPr sz="1100" b="1" i="0">
                <a:solidFill>
                  <a:srgbClr val="1B7A46"/>
                </a:solidFill>
                <a:latin typeface="Open Sans"/>
              </a:rPr>
              <a:t>●  </a:t>
            </a:r>
            <a:r>
              <a:rPr sz="1850" b="0" i="0">
                <a:solidFill>
                  <a:srgbClr val="22302A"/>
                </a:solidFill>
                <a:latin typeface="Open Sans"/>
              </a:rPr>
              <a:t>Rigor de ML de alto riesgo (medicina, finanzas), poco visto en el sector público.</a:t>
            </a:r>
          </a:p>
        </p:txBody>
      </p:sp>
      <p:sp>
        <p:nvSpPr>
          <p:cNvPr id="9" name="TextBox 8"/>
          <p:cNvSpPr txBox="1"/>
          <p:nvPr/>
        </p:nvSpPr>
        <p:spPr>
          <a:xfrm>
            <a:off x="731520" y="4754880"/>
            <a:ext cx="1645920" cy="1234440"/>
          </a:xfrm>
          <a:prstGeom prst="rect">
            <a:avLst/>
          </a:prstGeom>
          <a:noFill/>
        </p:spPr>
        <p:txBody>
          <a:bodyPr wrap="square" anchor="t" lIns="0" rIns="0" tIns="0" bIns="0">
            <a:spAutoFit/>
          </a:bodyPr>
          <a:lstStyle/>
          <a:p>
            <a:r>
              <a:rPr sz="4400" b="1" i="0">
                <a:solidFill>
                  <a:srgbClr val="123A5C"/>
                </a:solidFill>
                <a:latin typeface="Montserrat"/>
              </a:rPr>
              <a:t>91.4%</a:t>
            </a:r>
          </a:p>
          <a:p>
            <a:pPr>
              <a:spcBef>
                <a:spcPts val="200"/>
              </a:spcBef>
            </a:pPr>
            <a:r>
              <a:rPr sz="1250" b="0" i="0">
                <a:solidFill>
                  <a:srgbClr val="5B6B62"/>
                </a:solidFill>
                <a:latin typeface="Open Sans"/>
              </a:rPr>
              <a:t>Cobertura garantizada</a:t>
            </a:r>
          </a:p>
        </p:txBody>
      </p:sp>
      <p:sp>
        <p:nvSpPr>
          <p:cNvPr id="10" name="TextBox 9"/>
          <p:cNvSpPr txBox="1"/>
          <p:nvPr/>
        </p:nvSpPr>
        <p:spPr>
          <a:xfrm>
            <a:off x="2514600" y="4754880"/>
            <a:ext cx="1645920" cy="1234440"/>
          </a:xfrm>
          <a:prstGeom prst="rect">
            <a:avLst/>
          </a:prstGeom>
          <a:noFill/>
        </p:spPr>
        <p:txBody>
          <a:bodyPr wrap="square" anchor="t" lIns="0" rIns="0" tIns="0" bIns="0">
            <a:spAutoFit/>
          </a:bodyPr>
          <a:lstStyle/>
          <a:p>
            <a:r>
              <a:rPr sz="4400" b="1" i="0">
                <a:solidFill>
                  <a:srgbClr val="EA580C"/>
                </a:solidFill>
                <a:latin typeface="Montserrat"/>
              </a:rPr>
              <a:t>57</a:t>
            </a:r>
          </a:p>
          <a:p>
            <a:pPr>
              <a:spcBef>
                <a:spcPts val="200"/>
              </a:spcBef>
            </a:pPr>
            <a:r>
              <a:rPr sz="1250" b="0" i="0">
                <a:solidFill>
                  <a:srgbClr val="5B6B62"/>
                </a:solidFill>
                <a:latin typeface="Open Sans"/>
              </a:rPr>
              <a:t>Anomalías detectadas</a:t>
            </a:r>
          </a:p>
        </p:txBody>
      </p:sp>
      <p:sp>
        <p:nvSpPr>
          <p:cNvPr id="11" name="TextBox 10"/>
          <p:cNvSpPr txBox="1"/>
          <p:nvPr/>
        </p:nvSpPr>
        <p:spPr>
          <a:xfrm>
            <a:off x="4297680" y="4754880"/>
            <a:ext cx="1645920" cy="1234440"/>
          </a:xfrm>
          <a:prstGeom prst="rect">
            <a:avLst/>
          </a:prstGeom>
          <a:noFill/>
        </p:spPr>
        <p:txBody>
          <a:bodyPr wrap="square" anchor="t" lIns="0" rIns="0" tIns="0" bIns="0">
            <a:spAutoFit/>
          </a:bodyPr>
          <a:lstStyle/>
          <a:p>
            <a:r>
              <a:rPr sz="4400" b="1" i="0">
                <a:solidFill>
                  <a:srgbClr val="1B7A46"/>
                </a:solidFill>
                <a:latin typeface="Montserrat"/>
              </a:rPr>
              <a:t>14</a:t>
            </a:r>
          </a:p>
          <a:p>
            <a:pPr>
              <a:spcBef>
                <a:spcPts val="200"/>
              </a:spcBef>
            </a:pPr>
            <a:r>
              <a:rPr sz="1250" b="0" i="0">
                <a:solidFill>
                  <a:srgbClr val="5B6B62"/>
                </a:solidFill>
                <a:latin typeface="Open Sans"/>
              </a:rPr>
              <a:t>Atípicos nuevos</a:t>
            </a:r>
          </a:p>
        </p:txBody>
      </p:sp>
      <p:sp>
        <p:nvSpPr>
          <p:cNvPr id="12" name="Rounded Rectangle 11"/>
          <p:cNvSpPr/>
          <p:nvPr/>
        </p:nvSpPr>
        <p:spPr>
          <a:xfrm>
            <a:off x="6035040" y="1600200"/>
            <a:ext cx="5532120" cy="1325880"/>
          </a:xfrm>
          <a:prstGeom prst="roundRect">
            <a:avLst/>
          </a:prstGeom>
          <a:solidFill>
            <a:srgbClr val="E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783080"/>
            <a:ext cx="4983480" cy="1005840"/>
          </a:xfrm>
          <a:prstGeom prst="rect">
            <a:avLst/>
          </a:prstGeom>
          <a:noFill/>
        </p:spPr>
        <p:txBody>
          <a:bodyPr wrap="square" anchor="t" lIns="0" rIns="0" tIns="0" bIns="0">
            <a:spAutoFit/>
          </a:bodyPr>
          <a:lstStyle/>
          <a:p>
            <a:r>
              <a:rPr sz="1500" b="1" i="0">
                <a:solidFill>
                  <a:srgbClr val="5B6B62"/>
                </a:solidFill>
                <a:latin typeface="Montserrat"/>
              </a:rPr>
              <a:t>Confianza (lo habitual)</a:t>
            </a:r>
          </a:p>
          <a:p>
            <a:pPr>
              <a:spcBef>
                <a:spcPts val="400"/>
              </a:spcBef>
            </a:pPr>
            <a:r>
              <a:rPr sz="1400" b="0" i="0">
                <a:solidFill>
                  <a:srgbClr val="22302A"/>
                </a:solidFill>
                <a:latin typeface="Open Sans"/>
              </a:rPr>
              <a:t>Probabilidad que reporta el modelo (softmax). Útil, pero sin garantía estadística.</a:t>
            </a:r>
          </a:p>
        </p:txBody>
      </p:sp>
      <p:sp>
        <p:nvSpPr>
          <p:cNvPr id="14" name="Rounded Rectangle 13"/>
          <p:cNvSpPr/>
          <p:nvPr/>
        </p:nvSpPr>
        <p:spPr>
          <a:xfrm>
            <a:off x="6035040" y="3108960"/>
            <a:ext cx="5532120" cy="1600200"/>
          </a:xfrm>
          <a:prstGeom prst="roundRect">
            <a:avLst/>
          </a:prstGeom>
          <a:solidFill>
            <a:srgbClr val="FFFFFF"/>
          </a:solidFill>
          <a:ln w="27940">
            <a:solidFill>
              <a:srgbClr val="1B7A46"/>
            </a:solidFill>
          </a:ln>
          <a:effectLst/>
          <a:effectLst>
            <a:outerShdw blurRad="90000" dist="38100" dir="5400000" rotWithShape="0">
              <a:srgbClr val="0B1F17">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3291840"/>
            <a:ext cx="4983480" cy="1280160"/>
          </a:xfrm>
          <a:prstGeom prst="rect">
            <a:avLst/>
          </a:prstGeom>
          <a:noFill/>
        </p:spPr>
        <p:txBody>
          <a:bodyPr wrap="square" anchor="t" lIns="0" rIns="0" tIns="0" bIns="0">
            <a:spAutoFit/>
          </a:bodyPr>
          <a:lstStyle/>
          <a:p>
            <a:r>
              <a:rPr sz="1500" b="1" i="0">
                <a:solidFill>
                  <a:srgbClr val="1B7A46"/>
                </a:solidFill>
                <a:latin typeface="Montserrat"/>
              </a:rPr>
              <a:t>🔬  Certeza calibrada (conformal)</a:t>
            </a:r>
          </a:p>
          <a:p>
            <a:pPr>
              <a:spcBef>
                <a:spcPts val="400"/>
              </a:spcBef>
            </a:pPr>
            <a:r>
              <a:rPr sz="1400" b="0" i="0">
                <a:solidFill>
                  <a:srgbClr val="22302A"/>
                </a:solidFill>
                <a:latin typeface="Open Sans"/>
              </a:rPr>
              <a:t>El nivel real cae dentro del conjunto con ≥90% de garantía, </a:t>
            </a:r>
            <a:r>
              <a:rPr sz="1400" b="1" i="0">
                <a:solidFill>
                  <a:srgbClr val="22302A"/>
                </a:solidFill>
                <a:latin typeface="Open Sans"/>
              </a:rPr>
              <a:t>verificada empíricamente en 91.4%.</a:t>
            </a:r>
          </a:p>
        </p:txBody>
      </p:sp>
      <p:sp>
        <p:nvSpPr>
          <p:cNvPr id="16" name="Rounded Rectangle 15"/>
          <p:cNvSpPr/>
          <p:nvPr/>
        </p:nvSpPr>
        <p:spPr>
          <a:xfrm>
            <a:off x="6035040" y="4937760"/>
            <a:ext cx="5532120" cy="685800"/>
          </a:xfrm>
          <a:prstGeom prst="roundRect">
            <a:avLst/>
          </a:prstGeom>
          <a:solidFill>
            <a:srgbClr val="123A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lIns="50800" rIns="50800"/>
          <a:lstStyle/>
          <a:p>
            <a:pPr algn="ctr"/>
            <a:r>
              <a:rPr sz="1250" b="1" i="0">
                <a:solidFill>
                  <a:srgbClr val="FFFFFF"/>
                </a:solidFill>
                <a:latin typeface="Montserrat"/>
              </a:rPr>
              <a:t>Anomalías independientes (sin etiquetas): confirman y descubren lo que la fórmula no 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53A559B792AF4984C78DA44AE8887A" ma:contentTypeVersion="12" ma:contentTypeDescription="Crear nuevo documento." ma:contentTypeScope="" ma:versionID="888491490b2646450a8eb0aabaf3a85d">
  <xsd:schema xmlns:xsd="http://www.w3.org/2001/XMLSchema" xmlns:xs="http://www.w3.org/2001/XMLSchema" xmlns:p="http://schemas.microsoft.com/office/2006/metadata/properties" xmlns:ns2="81fcb62b-dc92-4ff5-b488-2ab30dc582cd" xmlns:ns3="bb60cacb-b11d-4708-8aa0-cf19fb7ca32e" targetNamespace="http://schemas.microsoft.com/office/2006/metadata/properties" ma:root="true" ma:fieldsID="f86abdd57b65fcf8ac5f0797dd133465" ns2:_="" ns3:_="">
    <xsd:import namespace="81fcb62b-dc92-4ff5-b488-2ab30dc582cd"/>
    <xsd:import namespace="bb60cacb-b11d-4708-8aa0-cf19fb7ca3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fcb62b-dc92-4ff5-b488-2ab30dc582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c2231ce5-edc9-4cf3-bcdc-afedc95ebd1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60cacb-b11d-4708-8aa0-cf19fb7ca32e"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8342066-cd40-4550-9fa6-85baa7c4c5a8}" ma:internalName="TaxCatchAll" ma:showField="CatchAllData" ma:web="bb60cacb-b11d-4708-8aa0-cf19fb7ca3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b60cacb-b11d-4708-8aa0-cf19fb7ca32e" xsi:nil="true"/>
    <lcf76f155ced4ddcb4097134ff3c332f xmlns="81fcb62b-dc92-4ff5-b488-2ab30dc582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600F717-CD79-43FC-8D9C-5DBB14C2F8BE}">
  <ds:schemaRefs>
    <ds:schemaRef ds:uri="http://schemas.microsoft.com/sharepoint/v3/contenttype/forms"/>
  </ds:schemaRefs>
</ds:datastoreItem>
</file>

<file path=customXml/itemProps2.xml><?xml version="1.0" encoding="utf-8"?>
<ds:datastoreItem xmlns:ds="http://schemas.openxmlformats.org/officeDocument/2006/customXml" ds:itemID="{D81530DD-0955-4C4B-B4D9-CE8E4B40FB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fcb62b-dc92-4ff5-b488-2ab30dc582cd"/>
    <ds:schemaRef ds:uri="bb60cacb-b11d-4708-8aa0-cf19fb7ca3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B52E11-6FF3-43A9-A164-4E130D34CCF4}">
  <ds:schemaRefs>
    <ds:schemaRef ds:uri="http://schemas.microsoft.com/office/2006/metadata/properties"/>
    <ds:schemaRef ds:uri="http://schemas.microsoft.com/office/infopath/2007/PartnerControls"/>
    <ds:schemaRef ds:uri="bb60cacb-b11d-4708-8aa0-cf19fb7ca32e"/>
    <ds:schemaRef ds:uri="81fcb62b-dc92-4ff5-b488-2ab30dc582cd"/>
  </ds:schemaRefs>
</ds:datastoreItem>
</file>

<file path=docProps/app.xml><?xml version="1.0" encoding="utf-8"?>
<Properties xmlns="http://schemas.openxmlformats.org/officeDocument/2006/extended-properties" xmlns:vt="http://schemas.openxmlformats.org/officeDocument/2006/docPropsVTypes">
  <TotalTime>19</TotalTime>
  <Words>2064</Words>
  <Application>Microsoft Office PowerPoint</Application>
  <PresentationFormat>Widescreen</PresentationFormat>
  <Paragraphs>231</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Freddy Paez</dc:creator>
  <cp:keywords/>
  <dc:description>generated using python-pptx</dc:description>
  <cp:lastModifiedBy>FREDY GONZALO PAEZ ESPINOSA</cp:lastModifiedBy>
  <cp:revision>17</cp:revision>
  <dcterms:created xsi:type="dcterms:W3CDTF">2013-01-27T09:14:16Z</dcterms:created>
  <dcterms:modified xsi:type="dcterms:W3CDTF">2026-07-23T03:05:44Z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0x0101007A53A559B792AF4984C78DA44AE8887A</vt:lpwstr>
  </property>
  <property fmtid="{D5CDD505-2E9C-101B-9397-08002B2CF9AE}" pid="3" name="MediaServiceImageTags">
    <vt:lpwstr/>
  </property>
</Properties>
</file>